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Menstrual cramping and everyday abdominal muscle tension are managed by guesswork. Heat wraps and painkillers get applied on a hunch, not because anyone actually knows tension is building. Nobody has an objective signal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[0:25-0:55] This is a broad, everyday problem for women, not a narrow clinical one. Today's alternatives are all incomplete: heat wraps and painkillers with no sensing, period apps that log dates but nothing physiological, and pelvic floor trainers like Elvie and Perifit, which exist, but require internal insertion and sense a completely different muscle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[0:55-1:10] FlexiCure is two parts. A small rechargeable electronics module, about the size of a coin, holds the sensors and Bluetooth radio, one charge lasts a full week. It clicks into a disposable attachable part, the actual patch, replaced every few days, that carries the printed electrodes, the heater, and the adhesive.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[1:10-1:35] It's worn externally, on the lower abdomen, over the uterus, not inserted. That placement isn't arbitrary, it's the same one used in electrohysterography, a real clinical technique for reading uterine muscle activity through the skin. There's direct academic precedent for a patch this size doing exactly this, and a real commercial product, the Monica AN24, already does it clinically.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[1:35-1:55] When tension is detected, the attachable part's own heater responds automatically, or the patient triggers it manually. We power sensing and heating separately on purpose: sensing sips power, a single heat session can use more energy than a whole week of sensing, so splitting them is what makes the seven-day charge claim actually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[1:55-2:20] The app's real trick is a one-tap Comfort Check: easy, manageable, hard, or severe. Every tap personalizes that user's own heat-trigger threshold, so the system gets more accurate specifically for them over time, not a generic population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[2:20-2:45] The pelvic wellness market is real and sized, 892 million dollars in 2026, heading toward 1.9 billion by 2035. Elvie and Perifit already prove women will spend 100 to 200 euros here. We reach the same buyer with a non-insertable alternative, and the two-part hardware means our recurring cost is a fraction of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[2:45-2:55] Every sensing technique here already exists in clinical literature. Manufacturing is screen-printing and roll-to-roll, the same processes this lab already runs. We're asking for exactly what the InnoBoost prize offers: PrinLab access to build our first working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[2:55-3:00] CLOSE: One electronics module, endlessly reusable. One disposable part, replaced cheaply. Built for a market that's already proven women will pay for it. That's FlexiCure.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B4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73B4C"/>
          </a:solidFill>
          <a:ln/>
        </p:spPr>
      </p:sp>
      <p:sp>
        <p:nvSpPr>
          <p:cNvPr id="3" name="Text 1"/>
          <p:cNvSpPr txBox="1"/>
          <p:nvPr/>
        </p:nvSpPr>
        <p:spPr>
          <a:xfrm>
            <a:off x="822960" y="210312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FlexiCure</a:t>
            </a:r>
            <a:endParaRPr lang="en-US" sz="5400" dirty="0"/>
          </a:p>
        </p:txBody>
      </p:sp>
      <p:sp>
        <p:nvSpPr>
          <p:cNvPr id="4" name="Text 2"/>
          <p:cNvSpPr txBox="1"/>
          <p:nvPr/>
        </p:nvSpPr>
        <p:spPr>
          <a:xfrm>
            <a:off x="822960" y="3246120"/>
            <a:ext cx="10515600" cy="457200"/>
          </a:xfrm>
          <a:prstGeom prst="rect">
            <a:avLst/>
          </a:prstGeom>
          <a:noFill/>
          <a:ln/>
        </p:spPr>
        <p:txBody>
          <a:bodyPr wrap="square" lIns="0" tIns="0" rIns="0" bIns="0" rtlCol="0" anchor="ctr"/>
          <a:lstStyle/>
          <a:p>
            <a:pPr indent="0" marL="0">
              <a:buNone/>
            </a:pPr>
            <a:r>
              <a:rPr lang="en-US" sz="1900" dirty="0">
                <a:solidFill>
                  <a:srgbClr val="CFE9E6"/>
                </a:solidFill>
                <a:latin typeface="Calibri" pitchFamily="34" charset="0"/>
                <a:ea typeface="Calibri" pitchFamily="34" charset="-122"/>
                <a:cs typeface="Calibri" pitchFamily="34" charset="-120"/>
              </a:rPr>
              <a:t>Senses Abdominal Muscle Tension. Responds With Heat.</a:t>
            </a:r>
            <a:endParaRPr lang="en-US" sz="1900" dirty="0"/>
          </a:p>
        </p:txBody>
      </p:sp>
      <p:sp>
        <p:nvSpPr>
          <p:cNvPr id="5" name="Text 3"/>
          <p:cNvSpPr txBox="1"/>
          <p:nvPr/>
        </p:nvSpPr>
        <p:spPr>
          <a:xfrm>
            <a:off x="822960" y="3931920"/>
            <a:ext cx="9692640" cy="1005840"/>
          </a:xfrm>
          <a:prstGeom prst="rect">
            <a:avLst/>
          </a:prstGeom>
          <a:noFill/>
          <a:ln/>
        </p:spPr>
        <p:txBody>
          <a:bodyPr wrap="square" lIns="0" tIns="0" rIns="0" bIns="0" rtlCol="0" anchor="ctr"/>
          <a:lstStyle/>
          <a:p>
            <a:pPr indent="0" marL="0">
              <a:lnSpc>
                <a:spcPct val="125000"/>
              </a:lnSpc>
              <a:buNone/>
            </a:pPr>
            <a:r>
              <a:rPr lang="en-US" sz="1350" i="1" dirty="0">
                <a:solidFill>
                  <a:srgbClr val="E8F5F3"/>
                </a:solidFill>
                <a:latin typeface="Calibri" pitchFamily="34" charset="0"/>
                <a:ea typeface="Calibri" pitchFamily="34" charset="-122"/>
                <a:cs typeface="Calibri" pitchFamily="34" charset="-120"/>
              </a:rPr>
              <a:t>A non-insertable wearable for women managing menstrual cramping and</a:t>
            </a:r>
            <a:endParaRPr lang="en-US" sz="1350" dirty="0"/>
          </a:p>
          <a:p>
            <a:pPr indent="0" marL="0">
              <a:lnSpc>
                <a:spcPct val="125000"/>
              </a:lnSpc>
              <a:buNone/>
            </a:pPr>
            <a:r>
              <a:rPr lang="en-US" sz="1350" i="1" dirty="0">
                <a:solidFill>
                  <a:srgbClr val="E8F5F3"/>
                </a:solidFill>
                <a:latin typeface="Calibri" pitchFamily="34" charset="0"/>
                <a:ea typeface="Calibri" pitchFamily="34" charset="-122"/>
                <a:cs typeface="Calibri" pitchFamily="34" charset="-120"/>
              </a:rPr>
              <a:t>abdominal muscle tension - two-part hardware: a rechargeable electronics</a:t>
            </a:r>
            <a:endParaRPr lang="en-US" sz="1350" dirty="0"/>
          </a:p>
          <a:p>
            <a:pPr indent="0" marL="0">
              <a:lnSpc>
                <a:spcPct val="125000"/>
              </a:lnSpc>
              <a:buNone/>
            </a:pPr>
            <a:r>
              <a:rPr lang="en-US" sz="1350" i="1" dirty="0">
                <a:solidFill>
                  <a:srgbClr val="E8F5F3"/>
                </a:solidFill>
                <a:latin typeface="Calibri" pitchFamily="34" charset="0"/>
                <a:ea typeface="Calibri" pitchFamily="34" charset="-122"/>
                <a:cs typeface="Calibri" pitchFamily="34" charset="-120"/>
              </a:rPr>
              <a:t>module and a low-cost, disposable attachable part.</a:t>
            </a:r>
            <a:endParaRPr lang="en-US" sz="1350" dirty="0"/>
          </a:p>
        </p:txBody>
      </p:sp>
      <p:sp>
        <p:nvSpPr>
          <p:cNvPr id="6" name="Text 4"/>
          <p:cNvSpPr txBox="1"/>
          <p:nvPr/>
        </p:nvSpPr>
        <p:spPr>
          <a:xfrm>
            <a:off x="822960" y="6035040"/>
            <a:ext cx="7315200" cy="365760"/>
          </a:xfrm>
          <a:prstGeom prst="rect">
            <a:avLst/>
          </a:prstGeom>
          <a:noFill/>
          <a:ln/>
        </p:spPr>
        <p:txBody>
          <a:bodyPr wrap="square" lIns="0" tIns="0" rIns="0" bIns="0" rtlCol="0" anchor="ctr"/>
          <a:lstStyle/>
          <a:p>
            <a:pPr indent="0" marL="0">
              <a:buNone/>
            </a:pPr>
            <a:r>
              <a:rPr lang="en-US" sz="1200" dirty="0">
                <a:solidFill>
                  <a:srgbClr val="00A896"/>
                </a:solidFill>
                <a:latin typeface="Calibri" pitchFamily="34" charset="0"/>
                <a:ea typeface="Calibri" pitchFamily="34" charset="-122"/>
                <a:cs typeface="Calibri" pitchFamily="34" charset="-120"/>
              </a:rPr>
              <a:t>Team FLEXICURE  |  PrintoCent InnoFest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789920" cy="457200"/>
          </a:xfrm>
          <a:prstGeom prst="rect">
            <a:avLst/>
          </a:prstGeom>
          <a:noFill/>
          <a:ln/>
        </p:spPr>
        <p:txBody>
          <a:bodyPr wrap="square" lIns="0" tIns="0" rIns="0" bIns="0" rtlCol="0" anchor="ctr"/>
          <a:lstStyle/>
          <a:p>
            <a:pPr indent="0" marL="0">
              <a:buNone/>
            </a:pPr>
            <a:r>
              <a:rPr lang="en-US" sz="2500" b="1" dirty="0">
                <a:solidFill>
                  <a:srgbClr val="073B4C"/>
                </a:solidFill>
                <a:latin typeface="Cambria" pitchFamily="34" charset="0"/>
                <a:ea typeface="Cambria" pitchFamily="34" charset="-122"/>
                <a:cs typeface="Cambria" pitchFamily="34" charset="-120"/>
              </a:rPr>
              <a:t>Building a Successful Business Case</a:t>
            </a:r>
            <a:endParaRPr lang="en-US" sz="2500" dirty="0"/>
          </a:p>
        </p:txBody>
      </p:sp>
      <p:sp>
        <p:nvSpPr>
          <p:cNvPr id="3" name="Text 1"/>
          <p:cNvSpPr txBox="1"/>
          <p:nvPr/>
        </p:nvSpPr>
        <p:spPr>
          <a:xfrm>
            <a:off x="457200" y="777240"/>
            <a:ext cx="10972800" cy="365760"/>
          </a:xfrm>
          <a:prstGeom prst="rect">
            <a:avLst/>
          </a:prstGeom>
          <a:noFill/>
          <a:ln/>
        </p:spPr>
        <p:txBody>
          <a:bodyPr wrap="square" lIns="0" tIns="0" rIns="0" bIns="0" rtlCol="0" anchor="ctr"/>
          <a:lstStyle/>
          <a:p>
            <a:pPr indent="0" marL="0">
              <a:buNone/>
            </a:pPr>
            <a:r>
              <a:rPr lang="en-US" sz="1300" dirty="0">
                <a:solidFill>
                  <a:srgbClr val="5C7A78"/>
                </a:solidFill>
                <a:latin typeface="Calibri" pitchFamily="34" charset="0"/>
                <a:ea typeface="Calibri" pitchFamily="34" charset="-122"/>
                <a:cs typeface="Calibri" pitchFamily="34" charset="-120"/>
              </a:rPr>
              <a:t>The InnoFest framework, answered for FlexiCure</a:t>
            </a:r>
            <a:endParaRPr lang="en-US" sz="1300" dirty="0"/>
          </a:p>
        </p:txBody>
      </p:sp>
      <p:sp>
        <p:nvSpPr>
          <p:cNvPr id="4" name="Shape 2"/>
          <p:cNvSpPr/>
          <p:nvPr/>
        </p:nvSpPr>
        <p:spPr>
          <a:xfrm>
            <a:off x="457200" y="1371600"/>
            <a:ext cx="5394960" cy="2468880"/>
          </a:xfrm>
          <a:prstGeom prst="rect">
            <a:avLst/>
          </a:prstGeom>
          <a:solidFill>
            <a:srgbClr val="F4FAF9"/>
          </a:solidFill>
          <a:ln w="19050">
            <a:solidFill>
              <a:srgbClr val="028090"/>
            </a:solidFill>
            <a:prstDash val="solid"/>
          </a:ln>
        </p:spPr>
      </p:sp>
      <p:sp>
        <p:nvSpPr>
          <p:cNvPr id="5" name="Shape 3"/>
          <p:cNvSpPr/>
          <p:nvPr/>
        </p:nvSpPr>
        <p:spPr>
          <a:xfrm>
            <a:off x="640080" y="1554480"/>
            <a:ext cx="365760" cy="365760"/>
          </a:xfrm>
          <a:prstGeom prst="ellipse">
            <a:avLst/>
          </a:prstGeom>
          <a:solidFill>
            <a:srgbClr val="028090"/>
          </a:solidFill>
          <a:ln/>
        </p:spPr>
      </p:sp>
      <p:sp>
        <p:nvSpPr>
          <p:cNvPr id="6" name="Text 4"/>
          <p:cNvSpPr txBox="1"/>
          <p:nvPr/>
        </p:nvSpPr>
        <p:spPr>
          <a:xfrm>
            <a:off x="640080" y="15544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43000" y="1572768"/>
            <a:ext cx="4480560" cy="36576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WHAT'S THE PROBLEM?</a:t>
            </a:r>
            <a:endParaRPr lang="en-US" sz="1300" dirty="0"/>
          </a:p>
        </p:txBody>
      </p:sp>
      <p:sp>
        <p:nvSpPr>
          <p:cNvPr id="8" name="Text 6"/>
          <p:cNvSpPr txBox="1"/>
          <p:nvPr/>
        </p:nvSpPr>
        <p:spPr>
          <a:xfrm>
            <a:off x="731520" y="2148840"/>
            <a:ext cx="4846320" cy="1508760"/>
          </a:xfrm>
          <a:prstGeom prst="rect">
            <a:avLst/>
          </a:prstGeom>
          <a:noFill/>
          <a:ln/>
        </p:spPr>
        <p:txBody>
          <a:bodyPr wrap="square" lIns="0" tIns="0" rIns="0" bIns="0" rtlCol="0" anchor="t"/>
          <a:lstStyle/>
          <a:p>
            <a:pPr indent="0" marL="0">
              <a:lnSpc>
                <a:spcPct val="120000"/>
              </a:lnSpc>
              <a:buNone/>
            </a:pPr>
            <a:r>
              <a:rPr lang="en-US" sz="1100" dirty="0">
                <a:solidFill>
                  <a:srgbClr val="073B4C"/>
                </a:solidFill>
                <a:latin typeface="Calibri" pitchFamily="34" charset="0"/>
                <a:ea typeface="Calibri" pitchFamily="34" charset="-122"/>
                <a:cs typeface="Calibri" pitchFamily="34" charset="-120"/>
              </a:rPr>
              <a:t>Abdominal muscle tension and menstrual cramping are managed by guesswork - no objective way to know when tension is building, or whether today's relief actually helped.</a:t>
            </a:r>
            <a:endParaRPr lang="en-US" sz="1100" dirty="0"/>
          </a:p>
        </p:txBody>
      </p:sp>
      <p:sp>
        <p:nvSpPr>
          <p:cNvPr id="9" name="Shape 7"/>
          <p:cNvSpPr/>
          <p:nvPr/>
        </p:nvSpPr>
        <p:spPr>
          <a:xfrm>
            <a:off x="6309360" y="1371600"/>
            <a:ext cx="5394960" cy="2468880"/>
          </a:xfrm>
          <a:prstGeom prst="rect">
            <a:avLst/>
          </a:prstGeom>
          <a:solidFill>
            <a:srgbClr val="F4FAF9"/>
          </a:solidFill>
          <a:ln w="19050">
            <a:solidFill>
              <a:srgbClr val="00A896"/>
            </a:solidFill>
            <a:prstDash val="solid"/>
          </a:ln>
        </p:spPr>
      </p:sp>
      <p:sp>
        <p:nvSpPr>
          <p:cNvPr id="10" name="Shape 8"/>
          <p:cNvSpPr/>
          <p:nvPr/>
        </p:nvSpPr>
        <p:spPr>
          <a:xfrm>
            <a:off x="6492240" y="1554480"/>
            <a:ext cx="365760" cy="365760"/>
          </a:xfrm>
          <a:prstGeom prst="ellipse">
            <a:avLst/>
          </a:prstGeom>
          <a:solidFill>
            <a:srgbClr val="00A896"/>
          </a:solidFill>
          <a:ln/>
        </p:spPr>
      </p:sp>
      <p:sp>
        <p:nvSpPr>
          <p:cNvPr id="11" name="Text 9"/>
          <p:cNvSpPr txBox="1"/>
          <p:nvPr/>
        </p:nvSpPr>
        <p:spPr>
          <a:xfrm>
            <a:off x="6492240" y="15544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6995160" y="1572768"/>
            <a:ext cx="4480560" cy="36576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WHOSE PROBLEM IS IT?</a:t>
            </a:r>
            <a:endParaRPr lang="en-US" sz="1300" dirty="0"/>
          </a:p>
        </p:txBody>
      </p:sp>
      <p:sp>
        <p:nvSpPr>
          <p:cNvPr id="13" name="Text 11"/>
          <p:cNvSpPr txBox="1"/>
          <p:nvPr/>
        </p:nvSpPr>
        <p:spPr>
          <a:xfrm>
            <a:off x="6583680" y="2148840"/>
            <a:ext cx="4846320" cy="1508760"/>
          </a:xfrm>
          <a:prstGeom prst="rect">
            <a:avLst/>
          </a:prstGeom>
          <a:noFill/>
          <a:ln/>
        </p:spPr>
        <p:txBody>
          <a:bodyPr wrap="square" lIns="0" tIns="0" rIns="0" bIns="0" rtlCol="0" anchor="t"/>
          <a:lstStyle/>
          <a:p>
            <a:pPr indent="0" marL="0">
              <a:lnSpc>
                <a:spcPct val="120000"/>
              </a:lnSpc>
              <a:buNone/>
            </a:pPr>
            <a:r>
              <a:rPr lang="en-US" sz="1100" dirty="0">
                <a:solidFill>
                  <a:srgbClr val="073B4C"/>
                </a:solidFill>
                <a:latin typeface="Calibri" pitchFamily="34" charset="0"/>
                <a:ea typeface="Calibri" pitchFamily="34" charset="-122"/>
                <a:cs typeface="Calibri" pitchFamily="34" charset="-120"/>
              </a:rPr>
              <a:t>Women managing menstrual cramps or everyday abdominal muscle tension - a broad, everyday audience, not a narrow clinical population.</a:t>
            </a:r>
            <a:endParaRPr lang="en-US" sz="1100" dirty="0"/>
          </a:p>
        </p:txBody>
      </p:sp>
      <p:sp>
        <p:nvSpPr>
          <p:cNvPr id="14" name="Shape 12"/>
          <p:cNvSpPr/>
          <p:nvPr/>
        </p:nvSpPr>
        <p:spPr>
          <a:xfrm>
            <a:off x="457200" y="4206240"/>
            <a:ext cx="5394960" cy="2468880"/>
          </a:xfrm>
          <a:prstGeom prst="rect">
            <a:avLst/>
          </a:prstGeom>
          <a:solidFill>
            <a:srgbClr val="F4FAF9"/>
          </a:solidFill>
          <a:ln w="19050">
            <a:solidFill>
              <a:srgbClr val="02C39A"/>
            </a:solidFill>
            <a:prstDash val="solid"/>
          </a:ln>
        </p:spPr>
      </p:sp>
      <p:sp>
        <p:nvSpPr>
          <p:cNvPr id="15" name="Shape 13"/>
          <p:cNvSpPr/>
          <p:nvPr/>
        </p:nvSpPr>
        <p:spPr>
          <a:xfrm>
            <a:off x="640080" y="4389120"/>
            <a:ext cx="365760" cy="365760"/>
          </a:xfrm>
          <a:prstGeom prst="ellipse">
            <a:avLst/>
          </a:prstGeom>
          <a:solidFill>
            <a:srgbClr val="02C39A"/>
          </a:solidFill>
          <a:ln/>
        </p:spPr>
      </p:sp>
      <p:sp>
        <p:nvSpPr>
          <p:cNvPr id="16" name="Text 14"/>
          <p:cNvSpPr txBox="1"/>
          <p:nvPr/>
        </p:nvSpPr>
        <p:spPr>
          <a:xfrm>
            <a:off x="640080" y="438912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143000" y="4407408"/>
            <a:ext cx="4480560" cy="36576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HOW DO THEY SOLVE IT TODAY?</a:t>
            </a:r>
            <a:endParaRPr lang="en-US" sz="1300" dirty="0"/>
          </a:p>
        </p:txBody>
      </p:sp>
      <p:sp>
        <p:nvSpPr>
          <p:cNvPr id="18" name="Text 16"/>
          <p:cNvSpPr txBox="1"/>
          <p:nvPr/>
        </p:nvSpPr>
        <p:spPr>
          <a:xfrm>
            <a:off x="731520" y="4983480"/>
            <a:ext cx="4846320" cy="1508760"/>
          </a:xfrm>
          <a:prstGeom prst="rect">
            <a:avLst/>
          </a:prstGeom>
          <a:noFill/>
          <a:ln/>
        </p:spPr>
        <p:txBody>
          <a:bodyPr wrap="square" lIns="0" tIns="0" rIns="0" bIns="0" rtlCol="0" anchor="t"/>
          <a:lstStyle/>
          <a:p>
            <a:pPr indent="0" marL="0">
              <a:lnSpc>
                <a:spcPct val="120000"/>
              </a:lnSpc>
              <a:buNone/>
            </a:pPr>
            <a:r>
              <a:rPr lang="en-US" sz="1100" dirty="0">
                <a:solidFill>
                  <a:srgbClr val="073B4C"/>
                </a:solidFill>
                <a:latin typeface="Calibri" pitchFamily="34" charset="0"/>
                <a:ea typeface="Calibri" pitchFamily="34" charset="-122"/>
                <a:cs typeface="Calibri" pitchFamily="34" charset="-120"/>
              </a:rPr>
              <a:t>Heat wraps and painkillers, applied on a guess, with no sensing. Period apps log dates only. Pelvic floor trainers (Elvie, Perifit) exist, but are insertable and target a different muscle group entirely.</a:t>
            </a:r>
            <a:endParaRPr lang="en-US" sz="1100" dirty="0"/>
          </a:p>
        </p:txBody>
      </p:sp>
      <p:sp>
        <p:nvSpPr>
          <p:cNvPr id="19" name="Shape 17"/>
          <p:cNvSpPr/>
          <p:nvPr/>
        </p:nvSpPr>
        <p:spPr>
          <a:xfrm>
            <a:off x="6309360" y="4206240"/>
            <a:ext cx="5394960" cy="2468880"/>
          </a:xfrm>
          <a:prstGeom prst="rect">
            <a:avLst/>
          </a:prstGeom>
          <a:solidFill>
            <a:srgbClr val="F4FAF9"/>
          </a:solidFill>
          <a:ln w="19050">
            <a:solidFill>
              <a:srgbClr val="0B5563"/>
            </a:solidFill>
            <a:prstDash val="solid"/>
          </a:ln>
        </p:spPr>
      </p:sp>
      <p:sp>
        <p:nvSpPr>
          <p:cNvPr id="20" name="Shape 18"/>
          <p:cNvSpPr/>
          <p:nvPr/>
        </p:nvSpPr>
        <p:spPr>
          <a:xfrm>
            <a:off x="6492240" y="4389120"/>
            <a:ext cx="365760" cy="365760"/>
          </a:xfrm>
          <a:prstGeom prst="ellipse">
            <a:avLst/>
          </a:prstGeom>
          <a:solidFill>
            <a:srgbClr val="0B5563"/>
          </a:solidFill>
          <a:ln/>
        </p:spPr>
      </p:sp>
      <p:sp>
        <p:nvSpPr>
          <p:cNvPr id="21" name="Text 19"/>
          <p:cNvSpPr txBox="1"/>
          <p:nvPr/>
        </p:nvSpPr>
        <p:spPr>
          <a:xfrm>
            <a:off x="6492240" y="438912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6995160" y="4407408"/>
            <a:ext cx="4480560" cy="365760"/>
          </a:xfrm>
          <a:prstGeom prst="rect">
            <a:avLst/>
          </a:prstGeom>
          <a:noFill/>
          <a:ln/>
        </p:spPr>
        <p:txBody>
          <a:bodyPr wrap="square" lIns="0" tIns="0" rIns="0" bIns="0" rtlCol="0" anchor="ctr"/>
          <a:lstStyle/>
          <a:p>
            <a:pPr indent="0" marL="0">
              <a:buNone/>
            </a:pPr>
            <a:r>
              <a:rPr lang="en-US" sz="1300" b="1" dirty="0">
                <a:solidFill>
                  <a:srgbClr val="0B5563"/>
                </a:solidFill>
                <a:latin typeface="Calibri" pitchFamily="34" charset="0"/>
                <a:ea typeface="Calibri" pitchFamily="34" charset="-122"/>
                <a:cs typeface="Calibri" pitchFamily="34" charset="-120"/>
              </a:rPr>
              <a:t>WHY IS YOUR SOLUTION BETTER?</a:t>
            </a:r>
            <a:endParaRPr lang="en-US" sz="1300" dirty="0"/>
          </a:p>
        </p:txBody>
      </p:sp>
      <p:sp>
        <p:nvSpPr>
          <p:cNvPr id="23" name="Text 21"/>
          <p:cNvSpPr txBox="1"/>
          <p:nvPr/>
        </p:nvSpPr>
        <p:spPr>
          <a:xfrm>
            <a:off x="6583680" y="4983480"/>
            <a:ext cx="4846320" cy="1508760"/>
          </a:xfrm>
          <a:prstGeom prst="rect">
            <a:avLst/>
          </a:prstGeom>
          <a:noFill/>
          <a:ln/>
        </p:spPr>
        <p:txBody>
          <a:bodyPr wrap="square" lIns="0" tIns="0" rIns="0" bIns="0" rtlCol="0" anchor="t"/>
          <a:lstStyle/>
          <a:p>
            <a:pPr indent="0" marL="0">
              <a:lnSpc>
                <a:spcPct val="120000"/>
              </a:lnSpc>
              <a:buNone/>
            </a:pPr>
            <a:r>
              <a:rPr lang="en-US" sz="1100" dirty="0">
                <a:solidFill>
                  <a:srgbClr val="073B4C"/>
                </a:solidFill>
                <a:latin typeface="Calibri" pitchFamily="34" charset="0"/>
                <a:ea typeface="Calibri" pitchFamily="34" charset="-122"/>
                <a:cs typeface="Calibri" pitchFamily="34" charset="-120"/>
              </a:rPr>
              <a:t>FlexiCure senses abdominal muscle tension directly, using the same principle as clinical electrohysterography, and closes the loop with automatic heat - no insertion, no guessing when to apply relief.</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789920" cy="457200"/>
          </a:xfrm>
          <a:prstGeom prst="rect">
            <a:avLst/>
          </a:prstGeom>
          <a:noFill/>
          <a:ln/>
        </p:spPr>
        <p:txBody>
          <a:bodyPr wrap="square" lIns="0" tIns="0" rIns="0" bIns="0" rtlCol="0" anchor="ctr"/>
          <a:lstStyle/>
          <a:p>
            <a:pPr indent="0" marL="0">
              <a:buNone/>
            </a:pPr>
            <a:r>
              <a:rPr lang="en-US" sz="2500" b="1" dirty="0">
                <a:solidFill>
                  <a:srgbClr val="073B4C"/>
                </a:solidFill>
                <a:latin typeface="Cambria" pitchFamily="34" charset="0"/>
                <a:ea typeface="Cambria" pitchFamily="34" charset="-122"/>
                <a:cs typeface="Cambria" pitchFamily="34" charset="-120"/>
              </a:rPr>
              <a:t>In Our Presentation, We Focus On</a:t>
            </a:r>
            <a:endParaRPr lang="en-US" sz="2500" dirty="0"/>
          </a:p>
        </p:txBody>
      </p:sp>
      <p:sp>
        <p:nvSpPr>
          <p:cNvPr id="3" name="Text 1"/>
          <p:cNvSpPr txBox="1"/>
          <p:nvPr/>
        </p:nvSpPr>
        <p:spPr>
          <a:xfrm>
            <a:off x="457200" y="777240"/>
            <a:ext cx="10972800" cy="365760"/>
          </a:xfrm>
          <a:prstGeom prst="rect">
            <a:avLst/>
          </a:prstGeom>
          <a:noFill/>
          <a:ln/>
        </p:spPr>
        <p:txBody>
          <a:bodyPr wrap="square" lIns="0" tIns="0" rIns="0" bIns="0" rtlCol="0" anchor="ctr"/>
          <a:lstStyle/>
          <a:p>
            <a:pPr indent="0" marL="0">
              <a:buNone/>
            </a:pPr>
            <a:r>
              <a:rPr lang="en-US" sz="1300" dirty="0">
                <a:solidFill>
                  <a:srgbClr val="5C7A78"/>
                </a:solidFill>
                <a:latin typeface="Calibri" pitchFamily="34" charset="0"/>
                <a:ea typeface="Calibri" pitchFamily="34" charset="-122"/>
                <a:cs typeface="Calibri" pitchFamily="34" charset="-120"/>
              </a:rPr>
              <a:t>Idea, Market, and Feasibility</a:t>
            </a:r>
            <a:endParaRPr lang="en-US" sz="1300" dirty="0"/>
          </a:p>
        </p:txBody>
      </p:sp>
      <p:sp>
        <p:nvSpPr>
          <p:cNvPr id="4" name="Shape 2"/>
          <p:cNvSpPr/>
          <p:nvPr/>
        </p:nvSpPr>
        <p:spPr>
          <a:xfrm>
            <a:off x="457200" y="1463040"/>
            <a:ext cx="3566160" cy="4297680"/>
          </a:xfrm>
          <a:prstGeom prst="rect">
            <a:avLst/>
          </a:prstGeom>
          <a:solidFill>
            <a:srgbClr val="F4FAF9"/>
          </a:solidFill>
          <a:ln w="19050">
            <a:solidFill>
              <a:srgbClr val="028090"/>
            </a:solidFill>
            <a:prstDash val="solid"/>
          </a:ln>
        </p:spPr>
      </p:sp>
      <p:sp>
        <p:nvSpPr>
          <p:cNvPr id="5" name="Shape 3"/>
          <p:cNvSpPr/>
          <p:nvPr/>
        </p:nvSpPr>
        <p:spPr>
          <a:xfrm>
            <a:off x="457200" y="1463040"/>
            <a:ext cx="3566160" cy="548640"/>
          </a:xfrm>
          <a:prstGeom prst="rect">
            <a:avLst/>
          </a:prstGeom>
          <a:solidFill>
            <a:srgbClr val="028090"/>
          </a:solidFill>
          <a:ln/>
        </p:spPr>
      </p:sp>
      <p:sp>
        <p:nvSpPr>
          <p:cNvPr id="6" name="Text 4"/>
          <p:cNvSpPr txBox="1"/>
          <p:nvPr/>
        </p:nvSpPr>
        <p:spPr>
          <a:xfrm>
            <a:off x="457200" y="1463040"/>
            <a:ext cx="356616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IDEA</a:t>
            </a:r>
            <a:endParaRPr lang="en-US" sz="1500" dirty="0"/>
          </a:p>
        </p:txBody>
      </p:sp>
      <p:sp>
        <p:nvSpPr>
          <p:cNvPr id="7" name="Text 5"/>
          <p:cNvSpPr txBox="1"/>
          <p:nvPr/>
        </p:nvSpPr>
        <p:spPr>
          <a:xfrm>
            <a:off x="731520" y="2286000"/>
            <a:ext cx="3017520" cy="3200400"/>
          </a:xfrm>
          <a:prstGeom prst="rect">
            <a:avLst/>
          </a:prstGeom>
          <a:noFill/>
          <a:ln/>
        </p:spPr>
        <p:txBody>
          <a:bodyPr wrap="square" lIns="0" tIns="0" rIns="0" bIns="0" rtlCol="0" anchor="t"/>
          <a:lstStyle/>
          <a:p>
            <a:pPr indent="0" marL="0">
              <a:lnSpc>
                <a:spcPct val="125000"/>
              </a:lnSpc>
              <a:buNone/>
            </a:pPr>
            <a:r>
              <a:rPr lang="en-US" sz="1200" dirty="0">
                <a:solidFill>
                  <a:srgbClr val="073B4C"/>
                </a:solidFill>
                <a:latin typeface="Calibri" pitchFamily="34" charset="0"/>
                <a:ea typeface="Calibri" pitchFamily="34" charset="-122"/>
                <a:cs typeface="Calibri" pitchFamily="34" charset="-120"/>
              </a:rPr>
              <a:t>One external patch, two-part hardware, senses abdominal muscle tension and closes the loop with automatic heat - no insertion, no guessing.</a:t>
            </a:r>
            <a:endParaRPr lang="en-US" sz="1200" dirty="0"/>
          </a:p>
        </p:txBody>
      </p:sp>
      <p:sp>
        <p:nvSpPr>
          <p:cNvPr id="8" name="Shape 6"/>
          <p:cNvSpPr/>
          <p:nvPr/>
        </p:nvSpPr>
        <p:spPr>
          <a:xfrm>
            <a:off x="4251960" y="1463040"/>
            <a:ext cx="3566160" cy="4297680"/>
          </a:xfrm>
          <a:prstGeom prst="rect">
            <a:avLst/>
          </a:prstGeom>
          <a:solidFill>
            <a:srgbClr val="F4FAF9"/>
          </a:solidFill>
          <a:ln w="19050">
            <a:solidFill>
              <a:srgbClr val="00A896"/>
            </a:solidFill>
            <a:prstDash val="solid"/>
          </a:ln>
        </p:spPr>
      </p:sp>
      <p:sp>
        <p:nvSpPr>
          <p:cNvPr id="9" name="Shape 7"/>
          <p:cNvSpPr/>
          <p:nvPr/>
        </p:nvSpPr>
        <p:spPr>
          <a:xfrm>
            <a:off x="4251960" y="1463040"/>
            <a:ext cx="3566160" cy="548640"/>
          </a:xfrm>
          <a:prstGeom prst="rect">
            <a:avLst/>
          </a:prstGeom>
          <a:solidFill>
            <a:srgbClr val="00A896"/>
          </a:solidFill>
          <a:ln/>
        </p:spPr>
      </p:sp>
      <p:sp>
        <p:nvSpPr>
          <p:cNvPr id="10" name="Text 8"/>
          <p:cNvSpPr txBox="1"/>
          <p:nvPr/>
        </p:nvSpPr>
        <p:spPr>
          <a:xfrm>
            <a:off x="4251960" y="1463040"/>
            <a:ext cx="356616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MARKET</a:t>
            </a:r>
            <a:endParaRPr lang="en-US" sz="1500" dirty="0"/>
          </a:p>
        </p:txBody>
      </p:sp>
      <p:sp>
        <p:nvSpPr>
          <p:cNvPr id="11" name="Text 9"/>
          <p:cNvSpPr txBox="1"/>
          <p:nvPr/>
        </p:nvSpPr>
        <p:spPr>
          <a:xfrm>
            <a:off x="4526280" y="2286000"/>
            <a:ext cx="3017520" cy="3200400"/>
          </a:xfrm>
          <a:prstGeom prst="rect">
            <a:avLst/>
          </a:prstGeom>
          <a:noFill/>
          <a:ln/>
        </p:spPr>
        <p:txBody>
          <a:bodyPr wrap="square" lIns="0" tIns="0" rIns="0" bIns="0" rtlCol="0" anchor="t"/>
          <a:lstStyle/>
          <a:p>
            <a:pPr indent="0" marL="0">
              <a:lnSpc>
                <a:spcPct val="125000"/>
              </a:lnSpc>
              <a:buNone/>
            </a:pPr>
            <a:r>
              <a:rPr lang="en-US" sz="1200" dirty="0">
                <a:solidFill>
                  <a:srgbClr val="073B4C"/>
                </a:solidFill>
                <a:latin typeface="Calibri" pitchFamily="34" charset="0"/>
                <a:ea typeface="Calibri" pitchFamily="34" charset="-122"/>
                <a:cs typeface="Calibri" pitchFamily="34" charset="-120"/>
              </a:rPr>
              <a:t>A real, sized adjacent market: the pelvic-floor device space is worth USD 892.4M in 2026, growing to USD 1.89B by 2035 (8.7% CAGR) - FlexiCure serves the same buyer with a non-insertable alternative.</a:t>
            </a:r>
            <a:endParaRPr lang="en-US" sz="1200" dirty="0"/>
          </a:p>
        </p:txBody>
      </p:sp>
      <p:sp>
        <p:nvSpPr>
          <p:cNvPr id="12" name="Shape 10"/>
          <p:cNvSpPr/>
          <p:nvPr/>
        </p:nvSpPr>
        <p:spPr>
          <a:xfrm>
            <a:off x="8046720" y="1463040"/>
            <a:ext cx="3566160" cy="4297680"/>
          </a:xfrm>
          <a:prstGeom prst="rect">
            <a:avLst/>
          </a:prstGeom>
          <a:solidFill>
            <a:srgbClr val="F4FAF9"/>
          </a:solidFill>
          <a:ln w="19050">
            <a:solidFill>
              <a:srgbClr val="02C39A"/>
            </a:solidFill>
            <a:prstDash val="solid"/>
          </a:ln>
        </p:spPr>
      </p:sp>
      <p:sp>
        <p:nvSpPr>
          <p:cNvPr id="13" name="Shape 11"/>
          <p:cNvSpPr/>
          <p:nvPr/>
        </p:nvSpPr>
        <p:spPr>
          <a:xfrm>
            <a:off x="8046720" y="1463040"/>
            <a:ext cx="3566160" cy="548640"/>
          </a:xfrm>
          <a:prstGeom prst="rect">
            <a:avLst/>
          </a:prstGeom>
          <a:solidFill>
            <a:srgbClr val="02C39A"/>
          </a:solidFill>
          <a:ln/>
        </p:spPr>
      </p:sp>
      <p:sp>
        <p:nvSpPr>
          <p:cNvPr id="14" name="Text 12"/>
          <p:cNvSpPr txBox="1"/>
          <p:nvPr/>
        </p:nvSpPr>
        <p:spPr>
          <a:xfrm>
            <a:off x="8046720" y="1463040"/>
            <a:ext cx="356616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FEASIBILITY</a:t>
            </a:r>
            <a:endParaRPr lang="en-US" sz="1500" dirty="0"/>
          </a:p>
        </p:txBody>
      </p:sp>
      <p:sp>
        <p:nvSpPr>
          <p:cNvPr id="15" name="Text 13"/>
          <p:cNvSpPr txBox="1"/>
          <p:nvPr/>
        </p:nvSpPr>
        <p:spPr>
          <a:xfrm>
            <a:off x="8321040" y="2286000"/>
            <a:ext cx="3017520" cy="3200400"/>
          </a:xfrm>
          <a:prstGeom prst="rect">
            <a:avLst/>
          </a:prstGeom>
          <a:noFill/>
          <a:ln/>
        </p:spPr>
        <p:txBody>
          <a:bodyPr wrap="square" lIns="0" tIns="0" rIns="0" bIns="0" rtlCol="0" anchor="t"/>
          <a:lstStyle/>
          <a:p>
            <a:pPr indent="0" marL="0">
              <a:lnSpc>
                <a:spcPct val="125000"/>
              </a:lnSpc>
              <a:buNone/>
            </a:pPr>
            <a:r>
              <a:rPr lang="en-US" sz="1200" dirty="0">
                <a:solidFill>
                  <a:srgbClr val="073B4C"/>
                </a:solidFill>
                <a:latin typeface="Calibri" pitchFamily="34" charset="0"/>
                <a:ea typeface="Calibri" pitchFamily="34" charset="-122"/>
                <a:cs typeface="Calibri" pitchFamily="34" charset="-120"/>
              </a:rPr>
              <a:t>Abdominal surface EMG (electrohysterography) is an established clinical technique with real wearable-patch precedent; manufacturing via screen-printing/R2R at OAMK PrinLab.</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4572000" cy="457200"/>
          </a:xfrm>
          <a:prstGeom prst="rect">
            <a:avLst/>
          </a:prstGeom>
          <a:noFill/>
          <a:ln/>
        </p:spPr>
        <p:txBody>
          <a:bodyPr wrap="square" lIns="0" tIns="0" rIns="0" bIns="0" rtlCol="0" anchor="ctr"/>
          <a:lstStyle/>
          <a:p>
            <a:pPr indent="0" marL="0">
              <a:buNone/>
            </a:pPr>
            <a:r>
              <a:rPr lang="en-US" sz="2400" b="1" dirty="0">
                <a:solidFill>
                  <a:srgbClr val="073B4C"/>
                </a:solidFill>
                <a:latin typeface="Cambria" pitchFamily="34" charset="0"/>
                <a:ea typeface="Cambria" pitchFamily="34" charset="-122"/>
                <a:cs typeface="Cambria" pitchFamily="34" charset="-120"/>
              </a:rPr>
              <a:t>FLEXICURE</a:t>
            </a:r>
            <a:endParaRPr lang="en-US" sz="2400" dirty="0"/>
          </a:p>
        </p:txBody>
      </p:sp>
      <p:sp>
        <p:nvSpPr>
          <p:cNvPr id="3" name="Text 1"/>
          <p:cNvSpPr txBox="1"/>
          <p:nvPr/>
        </p:nvSpPr>
        <p:spPr>
          <a:xfrm>
            <a:off x="457200" y="658368"/>
            <a:ext cx="4572000" cy="320040"/>
          </a:xfrm>
          <a:prstGeom prst="rect">
            <a:avLst/>
          </a:prstGeom>
          <a:noFill/>
          <a:ln/>
        </p:spPr>
        <p:txBody>
          <a:bodyPr wrap="square" lIns="0" tIns="0" rIns="0" bIns="0" rtlCol="0" anchor="ctr"/>
          <a:lstStyle/>
          <a:p>
            <a:pPr indent="0" marL="0">
              <a:buNone/>
            </a:pPr>
            <a:r>
              <a:rPr lang="en-US" sz="1300" dirty="0">
                <a:solidFill>
                  <a:srgbClr val="5C7A78"/>
                </a:solidFill>
                <a:latin typeface="Calibri" pitchFamily="34" charset="0"/>
                <a:ea typeface="Calibri" pitchFamily="34" charset="-122"/>
                <a:cs typeface="Calibri" pitchFamily="34" charset="-120"/>
              </a:rPr>
              <a:t>Lean Canvas - FlexiCure</a:t>
            </a:r>
            <a:endParaRPr lang="en-US" sz="1300" dirty="0"/>
          </a:p>
        </p:txBody>
      </p:sp>
      <p:sp>
        <p:nvSpPr>
          <p:cNvPr id="4" name="Text 2"/>
          <p:cNvSpPr txBox="1"/>
          <p:nvPr/>
        </p:nvSpPr>
        <p:spPr>
          <a:xfrm>
            <a:off x="8046720" y="292608"/>
            <a:ext cx="3657600" cy="274320"/>
          </a:xfrm>
          <a:prstGeom prst="rect">
            <a:avLst/>
          </a:prstGeom>
          <a:noFill/>
          <a:ln/>
        </p:spPr>
        <p:txBody>
          <a:bodyPr wrap="square" lIns="0" tIns="0" rIns="0" bIns="0" rtlCol="0" anchor="ctr"/>
          <a:lstStyle/>
          <a:p>
            <a:pPr algn="r" indent="0" marL="0">
              <a:buNone/>
            </a:pPr>
            <a:r>
              <a:rPr lang="en-US" sz="1100" dirty="0">
                <a:solidFill>
                  <a:srgbClr val="5C7A78"/>
                </a:solidFill>
                <a:latin typeface="Calibri" pitchFamily="34" charset="0"/>
                <a:ea typeface="Calibri" pitchFamily="34" charset="-122"/>
                <a:cs typeface="Calibri" pitchFamily="34" charset="-120"/>
              </a:rPr>
              <a:t>PrintoCent InnoFest 2026</a:t>
            </a:r>
            <a:endParaRPr lang="en-US" sz="1100" dirty="0"/>
          </a:p>
        </p:txBody>
      </p:sp>
      <p:sp>
        <p:nvSpPr>
          <p:cNvPr id="5" name="Text 3"/>
          <p:cNvSpPr txBox="1"/>
          <p:nvPr/>
        </p:nvSpPr>
        <p:spPr>
          <a:xfrm>
            <a:off x="8046720" y="548640"/>
            <a:ext cx="3657600" cy="274320"/>
          </a:xfrm>
          <a:prstGeom prst="rect">
            <a:avLst/>
          </a:prstGeom>
          <a:noFill/>
          <a:ln/>
        </p:spPr>
        <p:txBody>
          <a:bodyPr wrap="square" lIns="0" tIns="0" rIns="0" bIns="0" rtlCol="0" anchor="ctr"/>
          <a:lstStyle/>
          <a:p>
            <a:pPr algn="r" indent="0" marL="0">
              <a:buNone/>
            </a:pPr>
            <a:r>
              <a:rPr lang="en-US" sz="1100" b="1" dirty="0">
                <a:solidFill>
                  <a:srgbClr val="028090"/>
                </a:solidFill>
                <a:latin typeface="Calibri" pitchFamily="34" charset="0"/>
                <a:ea typeface="Calibri" pitchFamily="34" charset="-122"/>
                <a:cs typeface="Calibri" pitchFamily="34" charset="-120"/>
              </a:rPr>
              <a:t>Iteration #6</a:t>
            </a:r>
            <a:endParaRPr lang="en-US" sz="1100" dirty="0"/>
          </a:p>
        </p:txBody>
      </p:sp>
      <p:sp>
        <p:nvSpPr>
          <p:cNvPr id="6" name="Shape 4"/>
          <p:cNvSpPr/>
          <p:nvPr/>
        </p:nvSpPr>
        <p:spPr>
          <a:xfrm>
            <a:off x="457200" y="1097280"/>
            <a:ext cx="2249424" cy="2286000"/>
          </a:xfrm>
          <a:prstGeom prst="rect">
            <a:avLst/>
          </a:prstGeom>
          <a:solidFill>
            <a:srgbClr val="F4FAF9"/>
          </a:solidFill>
          <a:ln w="12700">
            <a:solidFill>
              <a:srgbClr val="CFE3E1"/>
            </a:solidFill>
            <a:prstDash val="solid"/>
          </a:ln>
        </p:spPr>
      </p:sp>
      <p:sp>
        <p:nvSpPr>
          <p:cNvPr id="7" name="Shape 5"/>
          <p:cNvSpPr/>
          <p:nvPr/>
        </p:nvSpPr>
        <p:spPr>
          <a:xfrm>
            <a:off x="530352" y="1170432"/>
            <a:ext cx="256032" cy="256032"/>
          </a:xfrm>
          <a:prstGeom prst="ellipse">
            <a:avLst/>
          </a:prstGeom>
          <a:solidFill>
            <a:srgbClr val="028090"/>
          </a:solidFill>
          <a:ln/>
        </p:spPr>
      </p:sp>
      <p:sp>
        <p:nvSpPr>
          <p:cNvPr id="8" name="Text 6"/>
          <p:cNvSpPr txBox="1"/>
          <p:nvPr/>
        </p:nvSpPr>
        <p:spPr>
          <a:xfrm>
            <a:off x="530352" y="11704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841248" y="11612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Problem</a:t>
            </a:r>
            <a:endParaRPr lang="en-US" sz="1050" dirty="0"/>
          </a:p>
        </p:txBody>
      </p:sp>
      <p:sp>
        <p:nvSpPr>
          <p:cNvPr id="10" name="Text 8"/>
          <p:cNvSpPr txBox="1"/>
          <p:nvPr/>
        </p:nvSpPr>
        <p:spPr>
          <a:xfrm>
            <a:off x="594360" y="1463040"/>
            <a:ext cx="1975104" cy="18288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Abdominal muscle tension &amp; menstrual cramping are managed by guesswork - no objective sense of building tension</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Pelvic floor trainers exist, but sense a different muscle group and require internal insertion</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Nothing external senses abdominal tension and responds with relief automatically</a:t>
            </a:r>
            <a:endParaRPr lang="en-US" sz="800" dirty="0"/>
          </a:p>
        </p:txBody>
      </p:sp>
      <p:sp>
        <p:nvSpPr>
          <p:cNvPr id="11" name="Shape 9"/>
          <p:cNvSpPr/>
          <p:nvPr/>
        </p:nvSpPr>
        <p:spPr>
          <a:xfrm>
            <a:off x="457200" y="3383280"/>
            <a:ext cx="2249424" cy="914400"/>
          </a:xfrm>
          <a:prstGeom prst="rect">
            <a:avLst/>
          </a:prstGeom>
          <a:solidFill>
            <a:srgbClr val="FFFFFF"/>
          </a:solidFill>
          <a:ln w="12700">
            <a:solidFill>
              <a:srgbClr val="CFE3E1"/>
            </a:solidFill>
            <a:prstDash val="solid"/>
          </a:ln>
        </p:spPr>
      </p:sp>
      <p:sp>
        <p:nvSpPr>
          <p:cNvPr id="12" name="Text 10"/>
          <p:cNvSpPr txBox="1"/>
          <p:nvPr/>
        </p:nvSpPr>
        <p:spPr>
          <a:xfrm>
            <a:off x="594360" y="3447288"/>
            <a:ext cx="19751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Existing Alternative</a:t>
            </a:r>
            <a:endParaRPr lang="en-US" sz="1050" dirty="0"/>
          </a:p>
        </p:txBody>
      </p:sp>
      <p:sp>
        <p:nvSpPr>
          <p:cNvPr id="13" name="Text 11"/>
          <p:cNvSpPr txBox="1"/>
          <p:nvPr/>
        </p:nvSpPr>
        <p:spPr>
          <a:xfrm>
            <a:off x="594360" y="3749040"/>
            <a:ext cx="1975104" cy="4572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Heat wraps &amp; painkillers, applied on a guess; period apps log dates only, no sensing</a:t>
            </a:r>
            <a:endParaRPr lang="en-US" sz="800" dirty="0"/>
          </a:p>
        </p:txBody>
      </p:sp>
      <p:sp>
        <p:nvSpPr>
          <p:cNvPr id="14" name="Shape 12"/>
          <p:cNvSpPr/>
          <p:nvPr/>
        </p:nvSpPr>
        <p:spPr>
          <a:xfrm>
            <a:off x="2706624" y="1097280"/>
            <a:ext cx="2249424" cy="1600200"/>
          </a:xfrm>
          <a:prstGeom prst="rect">
            <a:avLst/>
          </a:prstGeom>
          <a:solidFill>
            <a:srgbClr val="F4FAF9"/>
          </a:solidFill>
          <a:ln w="12700">
            <a:solidFill>
              <a:srgbClr val="CFE3E1"/>
            </a:solidFill>
            <a:prstDash val="solid"/>
          </a:ln>
        </p:spPr>
      </p:sp>
      <p:sp>
        <p:nvSpPr>
          <p:cNvPr id="15" name="Shape 13"/>
          <p:cNvSpPr/>
          <p:nvPr/>
        </p:nvSpPr>
        <p:spPr>
          <a:xfrm>
            <a:off x="2779776" y="1170432"/>
            <a:ext cx="256032" cy="256032"/>
          </a:xfrm>
          <a:prstGeom prst="ellipse">
            <a:avLst/>
          </a:prstGeom>
          <a:solidFill>
            <a:srgbClr val="028090"/>
          </a:solidFill>
          <a:ln/>
        </p:spPr>
      </p:sp>
      <p:sp>
        <p:nvSpPr>
          <p:cNvPr id="16" name="Text 14"/>
          <p:cNvSpPr txBox="1"/>
          <p:nvPr/>
        </p:nvSpPr>
        <p:spPr>
          <a:xfrm>
            <a:off x="2779776" y="11704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txBox="1"/>
          <p:nvPr/>
        </p:nvSpPr>
        <p:spPr>
          <a:xfrm>
            <a:off x="3090672" y="11612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Solution</a:t>
            </a:r>
            <a:endParaRPr lang="en-US" sz="1050" dirty="0"/>
          </a:p>
        </p:txBody>
      </p:sp>
      <p:sp>
        <p:nvSpPr>
          <p:cNvPr id="18" name="Text 16"/>
          <p:cNvSpPr txBox="1"/>
          <p:nvPr/>
        </p:nvSpPr>
        <p:spPr>
          <a:xfrm>
            <a:off x="2843784" y="1463040"/>
            <a:ext cx="1975104" cy="11430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750" dirty="0">
                <a:solidFill>
                  <a:srgbClr val="073B4C"/>
                </a:solidFill>
                <a:latin typeface="Calibri" pitchFamily="34" charset="0"/>
                <a:ea typeface="Calibri" pitchFamily="34" charset="-122"/>
                <a:cs typeface="Calibri" pitchFamily="34" charset="-120"/>
              </a:rPr>
              <a:t>Two-part patch: rechargeable electronics module + disposable attachable part</a:t>
            </a:r>
            <a:endParaRPr lang="en-US" sz="750" dirty="0"/>
          </a:p>
          <a:p>
            <a:pPr marL="127000" indent="-127000">
              <a:lnSpc>
                <a:spcPct val="105000"/>
              </a:lnSpc>
              <a:spcAft>
                <a:spcPts val="400"/>
              </a:spcAft>
              <a:buSzPct val="100000"/>
              <a:buChar char="•"/>
            </a:pPr>
            <a:r>
              <a:rPr lang="en-US" sz="750" dirty="0">
                <a:solidFill>
                  <a:srgbClr val="073B4C"/>
                </a:solidFill>
                <a:latin typeface="Calibri" pitchFamily="34" charset="0"/>
                <a:ea typeface="Calibri" pitchFamily="34" charset="-122"/>
                <a:cs typeface="Calibri" pitchFamily="34" charset="-120"/>
              </a:rPr>
              <a:t>Senses abdominal EMG, GSR, strain; auto-triggers heat via the attachable part</a:t>
            </a:r>
            <a:endParaRPr lang="en-US" sz="750" dirty="0"/>
          </a:p>
          <a:p>
            <a:pPr marL="127000" indent="-127000">
              <a:lnSpc>
                <a:spcPct val="105000"/>
              </a:lnSpc>
              <a:spcAft>
                <a:spcPts val="400"/>
              </a:spcAft>
              <a:buSzPct val="100000"/>
              <a:buChar char="•"/>
            </a:pPr>
            <a:r>
              <a:rPr lang="en-US" sz="750" dirty="0">
                <a:solidFill>
                  <a:srgbClr val="073B4C"/>
                </a:solidFill>
                <a:latin typeface="Calibri" pitchFamily="34" charset="0"/>
                <a:ea typeface="Calibri" pitchFamily="34" charset="-122"/>
                <a:cs typeface="Calibri" pitchFamily="34" charset="-120"/>
              </a:rPr>
              <a:t>Comfort Check + Period Log personalize the trigger over time</a:t>
            </a:r>
            <a:endParaRPr lang="en-US" sz="750" dirty="0"/>
          </a:p>
        </p:txBody>
      </p:sp>
      <p:sp>
        <p:nvSpPr>
          <p:cNvPr id="19" name="Shape 17"/>
          <p:cNvSpPr/>
          <p:nvPr/>
        </p:nvSpPr>
        <p:spPr>
          <a:xfrm>
            <a:off x="2706624" y="2697480"/>
            <a:ext cx="2249424" cy="1600200"/>
          </a:xfrm>
          <a:prstGeom prst="rect">
            <a:avLst/>
          </a:prstGeom>
          <a:solidFill>
            <a:srgbClr val="F4FAF9"/>
          </a:solidFill>
          <a:ln w="12700">
            <a:solidFill>
              <a:srgbClr val="CFE3E1"/>
            </a:solidFill>
            <a:prstDash val="solid"/>
          </a:ln>
        </p:spPr>
      </p:sp>
      <p:sp>
        <p:nvSpPr>
          <p:cNvPr id="20" name="Shape 18"/>
          <p:cNvSpPr/>
          <p:nvPr/>
        </p:nvSpPr>
        <p:spPr>
          <a:xfrm>
            <a:off x="2779776" y="2770632"/>
            <a:ext cx="256032" cy="256032"/>
          </a:xfrm>
          <a:prstGeom prst="ellipse">
            <a:avLst/>
          </a:prstGeom>
          <a:solidFill>
            <a:srgbClr val="028090"/>
          </a:solidFill>
          <a:ln/>
        </p:spPr>
      </p:sp>
      <p:sp>
        <p:nvSpPr>
          <p:cNvPr id="21" name="Text 19"/>
          <p:cNvSpPr txBox="1"/>
          <p:nvPr/>
        </p:nvSpPr>
        <p:spPr>
          <a:xfrm>
            <a:off x="2779776" y="27706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2" name="Text 20"/>
          <p:cNvSpPr txBox="1"/>
          <p:nvPr/>
        </p:nvSpPr>
        <p:spPr>
          <a:xfrm>
            <a:off x="3090672" y="27614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Key Metrics</a:t>
            </a:r>
            <a:endParaRPr lang="en-US" sz="1050" dirty="0"/>
          </a:p>
        </p:txBody>
      </p:sp>
      <p:sp>
        <p:nvSpPr>
          <p:cNvPr id="23" name="Text 21"/>
          <p:cNvSpPr txBox="1"/>
          <p:nvPr/>
        </p:nvSpPr>
        <p:spPr>
          <a:xfrm>
            <a:off x="2843784" y="3063240"/>
            <a:ext cx="1975104" cy="11430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EMG tension-signal correlation with Comfort Check taps</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Comfort Check + Period Log engagement rate</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Attachable-part reorder rate; module battery life vs. 7-day claim</a:t>
            </a:r>
            <a:endParaRPr lang="en-US" sz="800" dirty="0"/>
          </a:p>
        </p:txBody>
      </p:sp>
      <p:sp>
        <p:nvSpPr>
          <p:cNvPr id="24" name="Shape 22"/>
          <p:cNvSpPr/>
          <p:nvPr/>
        </p:nvSpPr>
        <p:spPr>
          <a:xfrm>
            <a:off x="4956048" y="1097280"/>
            <a:ext cx="2249424" cy="3200400"/>
          </a:xfrm>
          <a:prstGeom prst="rect">
            <a:avLst/>
          </a:prstGeom>
          <a:solidFill>
            <a:srgbClr val="E4F5F3"/>
          </a:solidFill>
          <a:ln w="12700">
            <a:solidFill>
              <a:srgbClr val="CFE3E1"/>
            </a:solidFill>
            <a:prstDash val="solid"/>
          </a:ln>
        </p:spPr>
      </p:sp>
      <p:sp>
        <p:nvSpPr>
          <p:cNvPr id="25" name="Shape 23"/>
          <p:cNvSpPr/>
          <p:nvPr/>
        </p:nvSpPr>
        <p:spPr>
          <a:xfrm>
            <a:off x="5029200" y="1170432"/>
            <a:ext cx="256032" cy="256032"/>
          </a:xfrm>
          <a:prstGeom prst="ellipse">
            <a:avLst/>
          </a:prstGeom>
          <a:solidFill>
            <a:srgbClr val="028090"/>
          </a:solidFill>
          <a:ln/>
        </p:spPr>
      </p:sp>
      <p:sp>
        <p:nvSpPr>
          <p:cNvPr id="26" name="Text 24"/>
          <p:cNvSpPr txBox="1"/>
          <p:nvPr/>
        </p:nvSpPr>
        <p:spPr>
          <a:xfrm>
            <a:off x="5029200" y="11704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Text 25"/>
          <p:cNvSpPr txBox="1"/>
          <p:nvPr/>
        </p:nvSpPr>
        <p:spPr>
          <a:xfrm>
            <a:off x="5340096" y="11612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Unique Value Proposition</a:t>
            </a:r>
            <a:endParaRPr lang="en-US" sz="1050" dirty="0"/>
          </a:p>
        </p:txBody>
      </p:sp>
      <p:sp>
        <p:nvSpPr>
          <p:cNvPr id="28" name="Text 26"/>
          <p:cNvSpPr txBox="1"/>
          <p:nvPr/>
        </p:nvSpPr>
        <p:spPr>
          <a:xfrm>
            <a:off x="5093208" y="1463040"/>
            <a:ext cx="1975104" cy="27432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External, non-insertable - senses abdominal muscle tension directly, competitors sense a different muscle group internally</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Learns each user's own comfort pattern through one-tap logging, not a fixed threshold</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Two-part hardware keeps ongoing cost low: one module, cheap disposable refills</a:t>
            </a:r>
            <a:endParaRPr lang="en-US" sz="800" dirty="0"/>
          </a:p>
        </p:txBody>
      </p:sp>
      <p:sp>
        <p:nvSpPr>
          <p:cNvPr id="29" name="Shape 27"/>
          <p:cNvSpPr/>
          <p:nvPr/>
        </p:nvSpPr>
        <p:spPr>
          <a:xfrm>
            <a:off x="7205472" y="1097280"/>
            <a:ext cx="2249424" cy="1600200"/>
          </a:xfrm>
          <a:prstGeom prst="rect">
            <a:avLst/>
          </a:prstGeom>
          <a:solidFill>
            <a:srgbClr val="F4FAF9"/>
          </a:solidFill>
          <a:ln w="12700">
            <a:solidFill>
              <a:srgbClr val="CFE3E1"/>
            </a:solidFill>
            <a:prstDash val="solid"/>
          </a:ln>
        </p:spPr>
      </p:sp>
      <p:sp>
        <p:nvSpPr>
          <p:cNvPr id="30" name="Shape 28"/>
          <p:cNvSpPr/>
          <p:nvPr/>
        </p:nvSpPr>
        <p:spPr>
          <a:xfrm>
            <a:off x="7278624" y="1170432"/>
            <a:ext cx="256032" cy="256032"/>
          </a:xfrm>
          <a:prstGeom prst="ellipse">
            <a:avLst/>
          </a:prstGeom>
          <a:solidFill>
            <a:srgbClr val="028090"/>
          </a:solidFill>
          <a:ln/>
        </p:spPr>
      </p:sp>
      <p:sp>
        <p:nvSpPr>
          <p:cNvPr id="31" name="Text 29"/>
          <p:cNvSpPr txBox="1"/>
          <p:nvPr/>
        </p:nvSpPr>
        <p:spPr>
          <a:xfrm>
            <a:off x="7278624" y="11704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32" name="Text 30"/>
          <p:cNvSpPr txBox="1"/>
          <p:nvPr/>
        </p:nvSpPr>
        <p:spPr>
          <a:xfrm>
            <a:off x="7589520" y="11612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Unfair Advantage</a:t>
            </a:r>
            <a:endParaRPr lang="en-US" sz="1050" dirty="0"/>
          </a:p>
        </p:txBody>
      </p:sp>
      <p:sp>
        <p:nvSpPr>
          <p:cNvPr id="33" name="Text 31"/>
          <p:cNvSpPr txBox="1"/>
          <p:nvPr/>
        </p:nvSpPr>
        <p:spPr>
          <a:xfrm>
            <a:off x="7342632" y="1463040"/>
            <a:ext cx="1975104" cy="11430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Team's biomedical signal-analysis background, directly applicable to EMG interpretation</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University of Oulu research network</a:t>
            </a:r>
            <a:endParaRPr lang="en-US" sz="800" dirty="0"/>
          </a:p>
        </p:txBody>
      </p:sp>
      <p:sp>
        <p:nvSpPr>
          <p:cNvPr id="34" name="Shape 32"/>
          <p:cNvSpPr/>
          <p:nvPr/>
        </p:nvSpPr>
        <p:spPr>
          <a:xfrm>
            <a:off x="7205472" y="2697480"/>
            <a:ext cx="2249424" cy="1600200"/>
          </a:xfrm>
          <a:prstGeom prst="rect">
            <a:avLst/>
          </a:prstGeom>
          <a:solidFill>
            <a:srgbClr val="F4FAF9"/>
          </a:solidFill>
          <a:ln w="12700">
            <a:solidFill>
              <a:srgbClr val="CFE3E1"/>
            </a:solidFill>
            <a:prstDash val="solid"/>
          </a:ln>
        </p:spPr>
      </p:sp>
      <p:sp>
        <p:nvSpPr>
          <p:cNvPr id="35" name="Shape 33"/>
          <p:cNvSpPr/>
          <p:nvPr/>
        </p:nvSpPr>
        <p:spPr>
          <a:xfrm>
            <a:off x="7278624" y="2770632"/>
            <a:ext cx="256032" cy="256032"/>
          </a:xfrm>
          <a:prstGeom prst="ellipse">
            <a:avLst/>
          </a:prstGeom>
          <a:solidFill>
            <a:srgbClr val="028090"/>
          </a:solidFill>
          <a:ln/>
        </p:spPr>
      </p:sp>
      <p:sp>
        <p:nvSpPr>
          <p:cNvPr id="36" name="Text 34"/>
          <p:cNvSpPr txBox="1"/>
          <p:nvPr/>
        </p:nvSpPr>
        <p:spPr>
          <a:xfrm>
            <a:off x="7278624" y="27706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7" name="Text 35"/>
          <p:cNvSpPr txBox="1"/>
          <p:nvPr/>
        </p:nvSpPr>
        <p:spPr>
          <a:xfrm>
            <a:off x="7589520" y="27614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Channels</a:t>
            </a:r>
            <a:endParaRPr lang="en-US" sz="1050" dirty="0"/>
          </a:p>
        </p:txBody>
      </p:sp>
      <p:sp>
        <p:nvSpPr>
          <p:cNvPr id="38" name="Text 36"/>
          <p:cNvSpPr txBox="1"/>
          <p:nvPr/>
        </p:nvSpPr>
        <p:spPr>
          <a:xfrm>
            <a:off x="7342632" y="3063240"/>
            <a:ext cx="1975104" cy="11430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Direct-to-consumer online - the channel already proven for this buyer</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Retail alongside women's wellness products</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InnoFest jury network</a:t>
            </a:r>
            <a:endParaRPr lang="en-US" sz="800" dirty="0"/>
          </a:p>
        </p:txBody>
      </p:sp>
      <p:sp>
        <p:nvSpPr>
          <p:cNvPr id="39" name="Shape 37"/>
          <p:cNvSpPr/>
          <p:nvPr/>
        </p:nvSpPr>
        <p:spPr>
          <a:xfrm>
            <a:off x="9454896" y="1097280"/>
            <a:ext cx="2249424" cy="2286000"/>
          </a:xfrm>
          <a:prstGeom prst="rect">
            <a:avLst/>
          </a:prstGeom>
          <a:solidFill>
            <a:srgbClr val="F4FAF9"/>
          </a:solidFill>
          <a:ln w="12700">
            <a:solidFill>
              <a:srgbClr val="CFE3E1"/>
            </a:solidFill>
            <a:prstDash val="solid"/>
          </a:ln>
        </p:spPr>
      </p:sp>
      <p:sp>
        <p:nvSpPr>
          <p:cNvPr id="40" name="Shape 38"/>
          <p:cNvSpPr/>
          <p:nvPr/>
        </p:nvSpPr>
        <p:spPr>
          <a:xfrm>
            <a:off x="9528048" y="1170432"/>
            <a:ext cx="256032" cy="256032"/>
          </a:xfrm>
          <a:prstGeom prst="ellipse">
            <a:avLst/>
          </a:prstGeom>
          <a:solidFill>
            <a:srgbClr val="028090"/>
          </a:solidFill>
          <a:ln/>
        </p:spPr>
      </p:sp>
      <p:sp>
        <p:nvSpPr>
          <p:cNvPr id="41" name="Text 39"/>
          <p:cNvSpPr txBox="1"/>
          <p:nvPr/>
        </p:nvSpPr>
        <p:spPr>
          <a:xfrm>
            <a:off x="9528048" y="11704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40"/>
          <p:cNvSpPr txBox="1"/>
          <p:nvPr/>
        </p:nvSpPr>
        <p:spPr>
          <a:xfrm>
            <a:off x="9838944" y="11612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Customer Segments</a:t>
            </a:r>
            <a:endParaRPr lang="en-US" sz="1050" dirty="0"/>
          </a:p>
        </p:txBody>
      </p:sp>
      <p:sp>
        <p:nvSpPr>
          <p:cNvPr id="43" name="Text 41"/>
          <p:cNvSpPr txBox="1"/>
          <p:nvPr/>
        </p:nvSpPr>
        <p:spPr>
          <a:xfrm>
            <a:off x="9592056" y="1463040"/>
            <a:ext cx="1975104" cy="18288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Women managing menstrual cramping or abdominal muscle tension</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Early adopters: women already spending EUR 99-199 on insertable pelvic trainers who want a non-insertable option</a:t>
            </a:r>
            <a:endParaRPr lang="en-US" sz="800" dirty="0"/>
          </a:p>
        </p:txBody>
      </p:sp>
      <p:sp>
        <p:nvSpPr>
          <p:cNvPr id="44" name="Shape 42"/>
          <p:cNvSpPr/>
          <p:nvPr/>
        </p:nvSpPr>
        <p:spPr>
          <a:xfrm>
            <a:off x="9454896" y="3383280"/>
            <a:ext cx="2249424" cy="914400"/>
          </a:xfrm>
          <a:prstGeom prst="rect">
            <a:avLst/>
          </a:prstGeom>
          <a:solidFill>
            <a:srgbClr val="FFFFFF"/>
          </a:solidFill>
          <a:ln w="12700">
            <a:solidFill>
              <a:srgbClr val="CFE3E1"/>
            </a:solidFill>
            <a:prstDash val="solid"/>
          </a:ln>
        </p:spPr>
      </p:sp>
      <p:sp>
        <p:nvSpPr>
          <p:cNvPr id="45" name="Text 43"/>
          <p:cNvSpPr txBox="1"/>
          <p:nvPr/>
        </p:nvSpPr>
        <p:spPr>
          <a:xfrm>
            <a:off x="9592056" y="3447288"/>
            <a:ext cx="19751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Early Adopters</a:t>
            </a:r>
            <a:endParaRPr lang="en-US" sz="1050" dirty="0"/>
          </a:p>
        </p:txBody>
      </p:sp>
      <p:sp>
        <p:nvSpPr>
          <p:cNvPr id="46" name="Text 44"/>
          <p:cNvSpPr txBox="1"/>
          <p:nvPr/>
        </p:nvSpPr>
        <p:spPr>
          <a:xfrm>
            <a:off x="9592056" y="3749040"/>
            <a:ext cx="1975104" cy="4572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750" dirty="0">
                <a:solidFill>
                  <a:srgbClr val="073B4C"/>
                </a:solidFill>
                <a:latin typeface="Calibri" pitchFamily="34" charset="0"/>
                <a:ea typeface="Calibri" pitchFamily="34" charset="-122"/>
                <a:cs typeface="Calibri" pitchFamily="34" charset="-120"/>
              </a:rPr>
              <a:t>Existing Elvie/Perifit customers seeking a non-insertable alternative</a:t>
            </a:r>
            <a:endParaRPr lang="en-US" sz="750" dirty="0"/>
          </a:p>
        </p:txBody>
      </p:sp>
      <p:sp>
        <p:nvSpPr>
          <p:cNvPr id="47" name="Shape 45"/>
          <p:cNvSpPr/>
          <p:nvPr/>
        </p:nvSpPr>
        <p:spPr>
          <a:xfrm>
            <a:off x="457200" y="4297680"/>
            <a:ext cx="5623560" cy="1920240"/>
          </a:xfrm>
          <a:prstGeom prst="rect">
            <a:avLst/>
          </a:prstGeom>
          <a:solidFill>
            <a:srgbClr val="F4FAF9"/>
          </a:solidFill>
          <a:ln w="12700">
            <a:solidFill>
              <a:srgbClr val="CFE3E1"/>
            </a:solidFill>
            <a:prstDash val="solid"/>
          </a:ln>
        </p:spPr>
      </p:sp>
      <p:sp>
        <p:nvSpPr>
          <p:cNvPr id="48" name="Shape 46"/>
          <p:cNvSpPr/>
          <p:nvPr/>
        </p:nvSpPr>
        <p:spPr>
          <a:xfrm>
            <a:off x="530352" y="4370832"/>
            <a:ext cx="256032" cy="256032"/>
          </a:xfrm>
          <a:prstGeom prst="ellipse">
            <a:avLst/>
          </a:prstGeom>
          <a:solidFill>
            <a:srgbClr val="028090"/>
          </a:solidFill>
          <a:ln/>
        </p:spPr>
      </p:sp>
      <p:sp>
        <p:nvSpPr>
          <p:cNvPr id="49" name="Text 47"/>
          <p:cNvSpPr txBox="1"/>
          <p:nvPr/>
        </p:nvSpPr>
        <p:spPr>
          <a:xfrm>
            <a:off x="530352" y="43708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8"/>
          <p:cNvSpPr txBox="1"/>
          <p:nvPr/>
        </p:nvSpPr>
        <p:spPr>
          <a:xfrm>
            <a:off x="841248" y="4361688"/>
            <a:ext cx="5120640"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Cost Structure</a:t>
            </a:r>
            <a:endParaRPr lang="en-US" sz="1050" dirty="0"/>
          </a:p>
        </p:txBody>
      </p:sp>
      <p:sp>
        <p:nvSpPr>
          <p:cNvPr id="51" name="Text 49"/>
          <p:cNvSpPr txBox="1"/>
          <p:nvPr/>
        </p:nvSpPr>
        <p:spPr>
          <a:xfrm>
            <a:off x="594360" y="4663440"/>
            <a:ext cx="5349240" cy="146304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900" dirty="0">
                <a:solidFill>
                  <a:srgbClr val="073B4C"/>
                </a:solidFill>
                <a:latin typeface="Calibri" pitchFamily="34" charset="0"/>
                <a:ea typeface="Calibri" pitchFamily="34" charset="-122"/>
                <a:cs typeface="Calibri" pitchFamily="34" charset="-120"/>
              </a:rPr>
              <a:t>Electronics module: IC, BLE radio, rechargeable battery, connector (~EUR 8-14, one-time)</a:t>
            </a:r>
            <a:endParaRPr lang="en-US" sz="900" dirty="0"/>
          </a:p>
          <a:p>
            <a:pPr marL="127000" indent="-127000">
              <a:lnSpc>
                <a:spcPct val="105000"/>
              </a:lnSpc>
              <a:spcAft>
                <a:spcPts val="400"/>
              </a:spcAft>
              <a:buSzPct val="100000"/>
              <a:buChar char="•"/>
            </a:pPr>
            <a:r>
              <a:rPr lang="en-US" sz="900" dirty="0">
                <a:solidFill>
                  <a:srgbClr val="073B4C"/>
                </a:solidFill>
                <a:latin typeface="Calibri" pitchFamily="34" charset="0"/>
                <a:ea typeface="Calibri" pitchFamily="34" charset="-122"/>
                <a:cs typeface="Calibri" pitchFamily="34" charset="-120"/>
              </a:rPr>
              <a:t>Attachable part: printed electrodes, heater, adhesive, substrate (~EUR 2-3.50, recurring)</a:t>
            </a:r>
            <a:endParaRPr lang="en-US" sz="900" dirty="0"/>
          </a:p>
          <a:p>
            <a:pPr marL="127000" indent="-127000">
              <a:lnSpc>
                <a:spcPct val="105000"/>
              </a:lnSpc>
              <a:spcAft>
                <a:spcPts val="400"/>
              </a:spcAft>
              <a:buSzPct val="100000"/>
              <a:buChar char="•"/>
            </a:pPr>
            <a:r>
              <a:rPr lang="en-US" sz="900" dirty="0">
                <a:solidFill>
                  <a:srgbClr val="073B4C"/>
                </a:solidFill>
                <a:latin typeface="Calibri" pitchFamily="34" charset="0"/>
                <a:ea typeface="Calibri" pitchFamily="34" charset="-122"/>
                <a:cs typeface="Calibri" pitchFamily="34" charset="-120"/>
              </a:rPr>
              <a:t>Manufacturing via screen-printing/R2R (OAMK PrinLab)</a:t>
            </a:r>
            <a:endParaRPr lang="en-US" sz="900" dirty="0"/>
          </a:p>
        </p:txBody>
      </p:sp>
      <p:sp>
        <p:nvSpPr>
          <p:cNvPr id="52" name="Shape 50"/>
          <p:cNvSpPr/>
          <p:nvPr/>
        </p:nvSpPr>
        <p:spPr>
          <a:xfrm>
            <a:off x="6080760" y="4297680"/>
            <a:ext cx="5623560" cy="1920240"/>
          </a:xfrm>
          <a:prstGeom prst="rect">
            <a:avLst/>
          </a:prstGeom>
          <a:solidFill>
            <a:srgbClr val="F4FAF9"/>
          </a:solidFill>
          <a:ln w="12700">
            <a:solidFill>
              <a:srgbClr val="CFE3E1"/>
            </a:solidFill>
            <a:prstDash val="solid"/>
          </a:ln>
        </p:spPr>
      </p:sp>
      <p:sp>
        <p:nvSpPr>
          <p:cNvPr id="53" name="Shape 51"/>
          <p:cNvSpPr/>
          <p:nvPr/>
        </p:nvSpPr>
        <p:spPr>
          <a:xfrm>
            <a:off x="6153912" y="4370832"/>
            <a:ext cx="256032" cy="256032"/>
          </a:xfrm>
          <a:prstGeom prst="ellipse">
            <a:avLst/>
          </a:prstGeom>
          <a:solidFill>
            <a:srgbClr val="028090"/>
          </a:solidFill>
          <a:ln/>
        </p:spPr>
      </p:sp>
      <p:sp>
        <p:nvSpPr>
          <p:cNvPr id="54" name="Text 52"/>
          <p:cNvSpPr txBox="1"/>
          <p:nvPr/>
        </p:nvSpPr>
        <p:spPr>
          <a:xfrm>
            <a:off x="6153912" y="43708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5" name="Text 53"/>
          <p:cNvSpPr txBox="1"/>
          <p:nvPr/>
        </p:nvSpPr>
        <p:spPr>
          <a:xfrm>
            <a:off x="6464808" y="4361688"/>
            <a:ext cx="5120640"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Revenue Streams</a:t>
            </a:r>
            <a:endParaRPr lang="en-US" sz="1050" dirty="0"/>
          </a:p>
        </p:txBody>
      </p:sp>
      <p:sp>
        <p:nvSpPr>
          <p:cNvPr id="56" name="Text 54"/>
          <p:cNvSpPr txBox="1"/>
          <p:nvPr/>
        </p:nvSpPr>
        <p:spPr>
          <a:xfrm>
            <a:off x="6217920" y="4663440"/>
            <a:ext cx="5349240" cy="146304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950" dirty="0">
                <a:solidFill>
                  <a:srgbClr val="073B4C"/>
                </a:solidFill>
                <a:latin typeface="Calibri" pitchFamily="34" charset="0"/>
                <a:ea typeface="Calibri" pitchFamily="34" charset="-122"/>
                <a:cs typeface="Calibri" pitchFamily="34" charset="-120"/>
              </a:rPr>
              <a:t>One-time electronics module sale, priced with margin</a:t>
            </a:r>
            <a:endParaRPr lang="en-US" sz="950" dirty="0"/>
          </a:p>
          <a:p>
            <a:pPr marL="127000" indent="-127000">
              <a:lnSpc>
                <a:spcPct val="105000"/>
              </a:lnSpc>
              <a:spcAft>
                <a:spcPts val="400"/>
              </a:spcAft>
              <a:buSzPct val="100000"/>
              <a:buChar char="•"/>
            </a:pPr>
            <a:r>
              <a:rPr lang="en-US" sz="950" dirty="0">
                <a:solidFill>
                  <a:srgbClr val="073B4C"/>
                </a:solidFill>
                <a:latin typeface="Calibri" pitchFamily="34" charset="0"/>
                <a:ea typeface="Calibri" pitchFamily="34" charset="-122"/>
                <a:cs typeface="Calibri" pitchFamily="34" charset="-120"/>
              </a:rPr>
              <a:t>Recurring attachable-part refill sales (subscription or multi-pack)</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789920" cy="457200"/>
          </a:xfrm>
          <a:prstGeom prst="rect">
            <a:avLst/>
          </a:prstGeom>
          <a:noFill/>
          <a:ln/>
        </p:spPr>
        <p:txBody>
          <a:bodyPr wrap="square" lIns="0" tIns="0" rIns="0" bIns="0" rtlCol="0" anchor="ctr"/>
          <a:lstStyle/>
          <a:p>
            <a:pPr indent="0" marL="0">
              <a:buNone/>
            </a:pPr>
            <a:r>
              <a:rPr lang="en-US" sz="2500" b="1" dirty="0">
                <a:solidFill>
                  <a:srgbClr val="073B4C"/>
                </a:solidFill>
                <a:latin typeface="Cambria" pitchFamily="34" charset="0"/>
                <a:ea typeface="Cambria" pitchFamily="34" charset="-122"/>
                <a:cs typeface="Cambria" pitchFamily="34" charset="-120"/>
              </a:rPr>
              <a:t>What FlexiCure Looks Like</a:t>
            </a:r>
            <a:endParaRPr lang="en-US" sz="2500" dirty="0"/>
          </a:p>
        </p:txBody>
      </p:sp>
      <p:sp>
        <p:nvSpPr>
          <p:cNvPr id="3" name="Text 1"/>
          <p:cNvSpPr txBox="1"/>
          <p:nvPr/>
        </p:nvSpPr>
        <p:spPr>
          <a:xfrm>
            <a:off x="457200" y="777240"/>
            <a:ext cx="10972800" cy="365760"/>
          </a:xfrm>
          <a:prstGeom prst="rect">
            <a:avLst/>
          </a:prstGeom>
          <a:noFill/>
          <a:ln/>
        </p:spPr>
        <p:txBody>
          <a:bodyPr wrap="square" lIns="0" tIns="0" rIns="0" bIns="0" rtlCol="0" anchor="ctr"/>
          <a:lstStyle/>
          <a:p>
            <a:pPr indent="0" marL="0">
              <a:buNone/>
            </a:pPr>
            <a:r>
              <a:rPr lang="en-US" sz="1300" dirty="0">
                <a:solidFill>
                  <a:srgbClr val="5C7A78"/>
                </a:solidFill>
                <a:latin typeface="Calibri" pitchFamily="34" charset="0"/>
                <a:ea typeface="Calibri" pitchFamily="34" charset="-122"/>
                <a:cs typeface="Calibri" pitchFamily="34" charset="-120"/>
              </a:rPr>
              <a:t>Two parts: a reusable electronics module, and a disposable attachable part</a:t>
            </a:r>
            <a:endParaRPr lang="en-US" sz="1300" dirty="0"/>
          </a:p>
        </p:txBody>
      </p:sp>
      <p:sp>
        <p:nvSpPr>
          <p:cNvPr id="4" name="Shape 2"/>
          <p:cNvSpPr/>
          <p:nvPr/>
        </p:nvSpPr>
        <p:spPr>
          <a:xfrm>
            <a:off x="548640" y="1371600"/>
            <a:ext cx="1828800" cy="1371600"/>
          </a:xfrm>
          <a:prstGeom prst="roundRect">
            <a:avLst>
              <a:gd name="adj" fmla="val 10000"/>
            </a:avLst>
          </a:prstGeom>
          <a:solidFill>
            <a:srgbClr val="073B4C"/>
          </a:solidFill>
          <a:ln/>
        </p:spPr>
      </p:sp>
      <p:sp>
        <p:nvSpPr>
          <p:cNvPr id="5" name="Text 3"/>
          <p:cNvSpPr txBox="1"/>
          <p:nvPr/>
        </p:nvSpPr>
        <p:spPr>
          <a:xfrm>
            <a:off x="548640" y="1828800"/>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IC + BLE</a:t>
            </a:r>
            <a:endParaRPr lang="en-US" sz="1000" dirty="0"/>
          </a:p>
        </p:txBody>
      </p:sp>
      <p:sp>
        <p:nvSpPr>
          <p:cNvPr id="6" name="Text 4"/>
          <p:cNvSpPr txBox="1"/>
          <p:nvPr/>
        </p:nvSpPr>
        <p:spPr>
          <a:xfrm>
            <a:off x="548640" y="2103120"/>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Battery</a:t>
            </a:r>
            <a:endParaRPr lang="en-US" sz="1000" dirty="0"/>
          </a:p>
        </p:txBody>
      </p:sp>
      <p:sp>
        <p:nvSpPr>
          <p:cNvPr id="7" name="Text 5"/>
          <p:cNvSpPr txBox="1"/>
          <p:nvPr/>
        </p:nvSpPr>
        <p:spPr>
          <a:xfrm>
            <a:off x="274320" y="2880360"/>
            <a:ext cx="2377440" cy="457200"/>
          </a:xfrm>
          <a:prstGeom prst="rect">
            <a:avLst/>
          </a:prstGeom>
          <a:noFill/>
          <a:ln/>
        </p:spPr>
        <p:txBody>
          <a:bodyPr wrap="square" lIns="0" tIns="0" rIns="0" bIns="0" rtlCol="0" anchor="ctr"/>
          <a:lstStyle/>
          <a:p>
            <a:pPr algn="ctr" indent="0" marL="0">
              <a:lnSpc>
                <a:spcPct val="110000"/>
              </a:lnSpc>
              <a:buNone/>
            </a:pPr>
            <a:r>
              <a:rPr lang="en-US" sz="1000" b="1" dirty="0">
                <a:solidFill>
                  <a:srgbClr val="028090"/>
                </a:solidFill>
                <a:latin typeface="Calibri" pitchFamily="34" charset="0"/>
                <a:ea typeface="Calibri" pitchFamily="34" charset="-122"/>
                <a:cs typeface="Calibri" pitchFamily="34" charset="-120"/>
              </a:rPr>
              <a:t>Electronics Module (Reusable)</a:t>
            </a:r>
            <a:endParaRPr lang="en-US" sz="1000" dirty="0"/>
          </a:p>
        </p:txBody>
      </p:sp>
      <p:sp>
        <p:nvSpPr>
          <p:cNvPr id="8" name="Shape 6"/>
          <p:cNvSpPr/>
          <p:nvPr/>
        </p:nvSpPr>
        <p:spPr>
          <a:xfrm>
            <a:off x="2514600" y="2057400"/>
            <a:ext cx="640080" cy="0"/>
          </a:xfrm>
          <a:prstGeom prst="line">
            <a:avLst/>
          </a:prstGeom>
          <a:noFill/>
          <a:ln w="19050">
            <a:solidFill>
              <a:srgbClr val="073B4C"/>
            </a:solidFill>
            <a:prstDash val="solid"/>
            <a:tailEnd type="triangle"/>
          </a:ln>
        </p:spPr>
      </p:sp>
      <p:sp>
        <p:nvSpPr>
          <p:cNvPr id="9" name="Text 7"/>
          <p:cNvSpPr txBox="1"/>
          <p:nvPr/>
        </p:nvSpPr>
        <p:spPr>
          <a:xfrm>
            <a:off x="2423160" y="1737360"/>
            <a:ext cx="822960" cy="228600"/>
          </a:xfrm>
          <a:prstGeom prst="rect">
            <a:avLst/>
          </a:prstGeom>
          <a:noFill/>
          <a:ln/>
        </p:spPr>
        <p:txBody>
          <a:bodyPr wrap="square" lIns="0" tIns="0" rIns="0" bIns="0" rtlCol="0" anchor="ctr"/>
          <a:lstStyle/>
          <a:p>
            <a:pPr algn="ctr" indent="0" marL="0">
              <a:buNone/>
            </a:pPr>
            <a:r>
              <a:rPr lang="en-US" sz="800" i="1" dirty="0">
                <a:solidFill>
                  <a:srgbClr val="5C7A78"/>
                </a:solidFill>
                <a:latin typeface="Calibri" pitchFamily="34" charset="0"/>
                <a:ea typeface="Calibri" pitchFamily="34" charset="-122"/>
                <a:cs typeface="Calibri" pitchFamily="34" charset="-120"/>
              </a:rPr>
              <a:t>clicks into</a:t>
            </a:r>
            <a:endParaRPr lang="en-US" sz="800" dirty="0"/>
          </a:p>
        </p:txBody>
      </p:sp>
      <p:sp>
        <p:nvSpPr>
          <p:cNvPr id="10" name="Shape 8"/>
          <p:cNvSpPr/>
          <p:nvPr/>
        </p:nvSpPr>
        <p:spPr>
          <a:xfrm>
            <a:off x="3291840" y="1188720"/>
            <a:ext cx="3291840" cy="2011680"/>
          </a:xfrm>
          <a:prstGeom prst="roundRect">
            <a:avLst>
              <a:gd name="adj" fmla="val 13636"/>
            </a:avLst>
          </a:prstGeom>
          <a:solidFill>
            <a:srgbClr val="E8F5F3"/>
          </a:solidFill>
          <a:ln w="19050">
            <a:solidFill>
              <a:srgbClr val="028090"/>
            </a:solidFill>
            <a:prstDash val="solid"/>
          </a:ln>
        </p:spPr>
      </p:sp>
      <p:sp>
        <p:nvSpPr>
          <p:cNvPr id="11" name="Shape 9"/>
          <p:cNvSpPr/>
          <p:nvPr/>
        </p:nvSpPr>
        <p:spPr>
          <a:xfrm>
            <a:off x="3566160" y="1463040"/>
            <a:ext cx="2743200" cy="1463040"/>
          </a:xfrm>
          <a:prstGeom prst="roundRect">
            <a:avLst>
              <a:gd name="adj" fmla="val 9375"/>
            </a:avLst>
          </a:prstGeom>
          <a:solidFill>
            <a:srgbClr val="FFFFFF"/>
          </a:solidFill>
          <a:ln w="12700">
            <a:solidFill>
              <a:srgbClr val="CFE3E1"/>
            </a:solidFill>
            <a:prstDash val="dash"/>
          </a:ln>
        </p:spPr>
      </p:sp>
      <p:sp>
        <p:nvSpPr>
          <p:cNvPr id="12" name="Shape 10"/>
          <p:cNvSpPr/>
          <p:nvPr/>
        </p:nvSpPr>
        <p:spPr>
          <a:xfrm>
            <a:off x="3794760" y="1975104"/>
            <a:ext cx="2286000" cy="0"/>
          </a:xfrm>
          <a:prstGeom prst="line">
            <a:avLst/>
          </a:prstGeom>
          <a:noFill/>
          <a:ln w="15875">
            <a:solidFill>
              <a:srgbClr val="00A896"/>
            </a:solidFill>
            <a:prstDash val="solid"/>
          </a:ln>
        </p:spPr>
      </p:sp>
      <p:sp>
        <p:nvSpPr>
          <p:cNvPr id="13" name="Shape 11"/>
          <p:cNvSpPr/>
          <p:nvPr/>
        </p:nvSpPr>
        <p:spPr>
          <a:xfrm>
            <a:off x="3794760" y="2304288"/>
            <a:ext cx="2286000" cy="0"/>
          </a:xfrm>
          <a:prstGeom prst="line">
            <a:avLst/>
          </a:prstGeom>
          <a:noFill/>
          <a:ln w="15875">
            <a:solidFill>
              <a:srgbClr val="00A896"/>
            </a:solidFill>
            <a:prstDash val="solid"/>
          </a:ln>
        </p:spPr>
      </p:sp>
      <p:sp>
        <p:nvSpPr>
          <p:cNvPr id="14" name="Shape 12"/>
          <p:cNvSpPr/>
          <p:nvPr/>
        </p:nvSpPr>
        <p:spPr>
          <a:xfrm>
            <a:off x="5897880" y="2697480"/>
            <a:ext cx="411480" cy="320040"/>
          </a:xfrm>
          <a:prstGeom prst="roundRect">
            <a:avLst>
              <a:gd name="adj" fmla="val 14286"/>
            </a:avLst>
          </a:prstGeom>
          <a:solidFill>
            <a:srgbClr val="5C7A78"/>
          </a:solidFill>
          <a:ln/>
        </p:spPr>
      </p:sp>
      <p:sp>
        <p:nvSpPr>
          <p:cNvPr id="15" name="Text 13"/>
          <p:cNvSpPr txBox="1"/>
          <p:nvPr/>
        </p:nvSpPr>
        <p:spPr>
          <a:xfrm>
            <a:off x="3291840" y="3337560"/>
            <a:ext cx="3291840" cy="274320"/>
          </a:xfrm>
          <a:prstGeom prst="rect">
            <a:avLst/>
          </a:prstGeom>
          <a:noFill/>
          <a:ln/>
        </p:spPr>
        <p:txBody>
          <a:bodyPr wrap="square" lIns="0" tIns="0" rIns="0" bIns="0"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Attachable Part (Disposable)</a:t>
            </a:r>
            <a:endParaRPr lang="en-US" sz="1000" dirty="0"/>
          </a:p>
        </p:txBody>
      </p:sp>
      <p:sp>
        <p:nvSpPr>
          <p:cNvPr id="16" name="Text 14"/>
          <p:cNvSpPr txBox="1"/>
          <p:nvPr/>
        </p:nvSpPr>
        <p:spPr>
          <a:xfrm>
            <a:off x="457200" y="3840480"/>
            <a:ext cx="5486400" cy="320040"/>
          </a:xfrm>
          <a:prstGeom prst="rect">
            <a:avLst/>
          </a:prstGeom>
          <a:noFill/>
          <a:ln/>
        </p:spPr>
        <p:txBody>
          <a:bodyPr wrap="square" lIns="0" tIns="0" rIns="0" bIns="0" rtlCol="0" anchor="ctr"/>
          <a:lstStyle/>
          <a:p>
            <a:pPr indent="0" marL="0">
              <a:buNone/>
            </a:pPr>
            <a:r>
              <a:rPr lang="en-US" sz="1400" b="1" dirty="0">
                <a:solidFill>
                  <a:srgbClr val="073B4C"/>
                </a:solidFill>
                <a:latin typeface="Cambria" pitchFamily="34" charset="0"/>
                <a:ea typeface="Cambria" pitchFamily="34" charset="-122"/>
                <a:cs typeface="Cambria" pitchFamily="34" charset="-120"/>
              </a:rPr>
              <a:t>Target Specifications (Illustrative)</a:t>
            </a:r>
            <a:endParaRPr lang="en-US" sz="1400" dirty="0"/>
          </a:p>
        </p:txBody>
      </p:sp>
      <p:sp>
        <p:nvSpPr>
          <p:cNvPr id="17" name="Text 15"/>
          <p:cNvSpPr txBox="1"/>
          <p:nvPr/>
        </p:nvSpPr>
        <p:spPr>
          <a:xfrm>
            <a:off x="457200" y="4251960"/>
            <a:ext cx="5394960" cy="411480"/>
          </a:xfrm>
          <a:prstGeom prst="rect">
            <a:avLst/>
          </a:prstGeom>
          <a:noFill/>
          <a:ln/>
        </p:spPr>
        <p:txBody>
          <a:bodyPr wrap="square" lIns="0" tIns="0" rIns="0" bIns="0" rtlCol="0" anchor="t"/>
          <a:lstStyle/>
          <a:p>
            <a:pPr indent="0" marL="0">
              <a:buNone/>
            </a:pPr>
            <a:r>
              <a:rPr lang="en-US" sz="1000" b="1" dirty="0">
                <a:solidFill>
                  <a:srgbClr val="028090"/>
                </a:solidFill>
                <a:latin typeface="Calibri" pitchFamily="34" charset="0"/>
                <a:ea typeface="Calibri" pitchFamily="34" charset="-122"/>
                <a:cs typeface="Calibri" pitchFamily="34" charset="-120"/>
              </a:rPr>
              <a:t>Electronics module size:  </a:t>
            </a:r>
            <a:pPr indent="0" marL="0">
              <a:buNone/>
            </a:pPr>
            <a:r>
              <a:rPr lang="en-US" sz="1000" dirty="0">
                <a:solidFill>
                  <a:srgbClr val="073B4C"/>
                </a:solidFill>
                <a:latin typeface="Calibri" pitchFamily="34" charset="0"/>
                <a:ea typeface="Calibri" pitchFamily="34" charset="-122"/>
                <a:cs typeface="Calibri" pitchFamily="34" charset="-120"/>
              </a:rPr>
              <a:t>~25 mm x 20 mm x 4 mm</a:t>
            </a:r>
            <a:endParaRPr lang="en-US" sz="1000" dirty="0"/>
          </a:p>
        </p:txBody>
      </p:sp>
      <p:sp>
        <p:nvSpPr>
          <p:cNvPr id="18" name="Text 16"/>
          <p:cNvSpPr txBox="1"/>
          <p:nvPr/>
        </p:nvSpPr>
        <p:spPr>
          <a:xfrm>
            <a:off x="457200" y="4709160"/>
            <a:ext cx="5394960" cy="411480"/>
          </a:xfrm>
          <a:prstGeom prst="rect">
            <a:avLst/>
          </a:prstGeom>
          <a:noFill/>
          <a:ln/>
        </p:spPr>
        <p:txBody>
          <a:bodyPr wrap="square" lIns="0" tIns="0" rIns="0" bIns="0" rtlCol="0" anchor="t"/>
          <a:lstStyle/>
          <a:p>
            <a:pPr indent="0" marL="0">
              <a:buNone/>
            </a:pPr>
            <a:r>
              <a:rPr lang="en-US" sz="1000" b="1" dirty="0">
                <a:solidFill>
                  <a:srgbClr val="028090"/>
                </a:solidFill>
                <a:latin typeface="Calibri" pitchFamily="34" charset="0"/>
                <a:ea typeface="Calibri" pitchFamily="34" charset="-122"/>
                <a:cs typeface="Calibri" pitchFamily="34" charset="-120"/>
              </a:rPr>
              <a:t>Electronics module battery:  </a:t>
            </a:r>
            <a:pPr indent="0" marL="0">
              <a:buNone/>
            </a:pPr>
            <a:r>
              <a:rPr lang="en-US" sz="1000" dirty="0">
                <a:solidFill>
                  <a:srgbClr val="073B4C"/>
                </a:solidFill>
                <a:latin typeface="Calibri" pitchFamily="34" charset="0"/>
                <a:ea typeface="Calibri" pitchFamily="34" charset="-122"/>
                <a:cs typeface="Calibri" pitchFamily="34" charset="-120"/>
              </a:rPr>
              <a:t>Rechargeable, 1 charge covers 7 days of sensing</a:t>
            </a:r>
            <a:endParaRPr lang="en-US" sz="1000" dirty="0"/>
          </a:p>
        </p:txBody>
      </p:sp>
      <p:sp>
        <p:nvSpPr>
          <p:cNvPr id="19" name="Text 17"/>
          <p:cNvSpPr txBox="1"/>
          <p:nvPr/>
        </p:nvSpPr>
        <p:spPr>
          <a:xfrm>
            <a:off x="457200" y="5166360"/>
            <a:ext cx="5394960" cy="411480"/>
          </a:xfrm>
          <a:prstGeom prst="rect">
            <a:avLst/>
          </a:prstGeom>
          <a:noFill/>
          <a:ln/>
        </p:spPr>
        <p:txBody>
          <a:bodyPr wrap="square" lIns="0" tIns="0" rIns="0" bIns="0" rtlCol="0" anchor="t"/>
          <a:lstStyle/>
          <a:p>
            <a:pPr indent="0" marL="0">
              <a:buNone/>
            </a:pPr>
            <a:r>
              <a:rPr lang="en-US" sz="1000" b="1" dirty="0">
                <a:solidFill>
                  <a:srgbClr val="028090"/>
                </a:solidFill>
                <a:latin typeface="Calibri" pitchFamily="34" charset="0"/>
                <a:ea typeface="Calibri" pitchFamily="34" charset="-122"/>
                <a:cs typeface="Calibri" pitchFamily="34" charset="-120"/>
              </a:rPr>
              <a:t>Electronics module weight:  </a:t>
            </a:r>
            <a:pPr indent="0" marL="0">
              <a:buNone/>
            </a:pPr>
            <a:r>
              <a:rPr lang="en-US" sz="1000" dirty="0">
                <a:solidFill>
                  <a:srgbClr val="073B4C"/>
                </a:solidFill>
                <a:latin typeface="Calibri" pitchFamily="34" charset="0"/>
                <a:ea typeface="Calibri" pitchFamily="34" charset="-122"/>
                <a:cs typeface="Calibri" pitchFamily="34" charset="-120"/>
              </a:rPr>
              <a:t>Under 3 g</a:t>
            </a:r>
            <a:endParaRPr lang="en-US" sz="1000" dirty="0"/>
          </a:p>
        </p:txBody>
      </p:sp>
      <p:sp>
        <p:nvSpPr>
          <p:cNvPr id="20" name="Text 18"/>
          <p:cNvSpPr txBox="1"/>
          <p:nvPr/>
        </p:nvSpPr>
        <p:spPr>
          <a:xfrm>
            <a:off x="6126480" y="4251960"/>
            <a:ext cx="5394960" cy="411480"/>
          </a:xfrm>
          <a:prstGeom prst="rect">
            <a:avLst/>
          </a:prstGeom>
          <a:noFill/>
          <a:ln/>
        </p:spPr>
        <p:txBody>
          <a:bodyPr wrap="square" lIns="0" tIns="0" rIns="0" bIns="0" rtlCol="0" anchor="t"/>
          <a:lstStyle/>
          <a:p>
            <a:pPr indent="0" marL="0">
              <a:buNone/>
            </a:pPr>
            <a:r>
              <a:rPr lang="en-US" sz="1000" b="1" dirty="0">
                <a:solidFill>
                  <a:srgbClr val="028090"/>
                </a:solidFill>
                <a:latin typeface="Calibri" pitchFamily="34" charset="0"/>
                <a:ea typeface="Calibri" pitchFamily="34" charset="-122"/>
                <a:cs typeface="Calibri" pitchFamily="34" charset="-120"/>
              </a:rPr>
              <a:t>Attachable part size:  </a:t>
            </a:r>
            <a:pPr indent="0" marL="0">
              <a:buNone/>
            </a:pPr>
            <a:r>
              <a:rPr lang="en-US" sz="1000" dirty="0">
                <a:solidFill>
                  <a:srgbClr val="073B4C"/>
                </a:solidFill>
                <a:latin typeface="Calibri" pitchFamily="34" charset="0"/>
                <a:ea typeface="Calibri" pitchFamily="34" charset="-122"/>
                <a:cs typeface="Calibri" pitchFamily="34" charset="-120"/>
              </a:rPr>
              <a:t>80 mm (L) x 50 mm (W), 0.3-0.5 mm thick</a:t>
            </a:r>
            <a:endParaRPr lang="en-US" sz="1000" dirty="0"/>
          </a:p>
        </p:txBody>
      </p:sp>
      <p:sp>
        <p:nvSpPr>
          <p:cNvPr id="21" name="Text 19"/>
          <p:cNvSpPr txBox="1"/>
          <p:nvPr/>
        </p:nvSpPr>
        <p:spPr>
          <a:xfrm>
            <a:off x="6126480" y="4709160"/>
            <a:ext cx="5394960" cy="411480"/>
          </a:xfrm>
          <a:prstGeom prst="rect">
            <a:avLst/>
          </a:prstGeom>
          <a:noFill/>
          <a:ln/>
        </p:spPr>
        <p:txBody>
          <a:bodyPr wrap="square" lIns="0" tIns="0" rIns="0" bIns="0" rtlCol="0" anchor="t"/>
          <a:lstStyle/>
          <a:p>
            <a:pPr indent="0" marL="0">
              <a:buNone/>
            </a:pPr>
            <a:r>
              <a:rPr lang="en-US" sz="1000" b="1" dirty="0">
                <a:solidFill>
                  <a:srgbClr val="028090"/>
                </a:solidFill>
                <a:latin typeface="Calibri" pitchFamily="34" charset="0"/>
                <a:ea typeface="Calibri" pitchFamily="34" charset="-122"/>
                <a:cs typeface="Calibri" pitchFamily="34" charset="-120"/>
              </a:rPr>
              <a:t>Attachable part power:  </a:t>
            </a:r>
            <a:pPr indent="0" marL="0">
              <a:buNone/>
            </a:pPr>
            <a:r>
              <a:rPr lang="en-US" sz="1000" dirty="0">
                <a:solidFill>
                  <a:srgbClr val="073B4C"/>
                </a:solidFill>
                <a:latin typeface="Calibri" pitchFamily="34" charset="0"/>
                <a:ea typeface="Calibri" pitchFamily="34" charset="-122"/>
                <a:cs typeface="Calibri" pitchFamily="34" charset="-120"/>
              </a:rPr>
              <a:t>Single-use cell, powers the heater only, decoupled from the module</a:t>
            </a:r>
            <a:endParaRPr lang="en-US" sz="1000" dirty="0"/>
          </a:p>
        </p:txBody>
      </p:sp>
      <p:sp>
        <p:nvSpPr>
          <p:cNvPr id="22" name="Text 20"/>
          <p:cNvSpPr txBox="1"/>
          <p:nvPr/>
        </p:nvSpPr>
        <p:spPr>
          <a:xfrm>
            <a:off x="6126480" y="5166360"/>
            <a:ext cx="5394960" cy="411480"/>
          </a:xfrm>
          <a:prstGeom prst="rect">
            <a:avLst/>
          </a:prstGeom>
          <a:noFill/>
          <a:ln/>
        </p:spPr>
        <p:txBody>
          <a:bodyPr wrap="square" lIns="0" tIns="0" rIns="0" bIns="0" rtlCol="0" anchor="t"/>
          <a:lstStyle/>
          <a:p>
            <a:pPr indent="0" marL="0">
              <a:buNone/>
            </a:pPr>
            <a:r>
              <a:rPr lang="en-US" sz="1000" b="1" dirty="0">
                <a:solidFill>
                  <a:srgbClr val="028090"/>
                </a:solidFill>
                <a:latin typeface="Calibri" pitchFamily="34" charset="0"/>
                <a:ea typeface="Calibri" pitchFamily="34" charset="-122"/>
                <a:cs typeface="Calibri" pitchFamily="34" charset="-120"/>
              </a:rPr>
              <a:t>Replacement interval:  </a:t>
            </a:r>
            <a:pPr indent="0" marL="0">
              <a:buNone/>
            </a:pPr>
            <a:r>
              <a:rPr lang="en-US" sz="1000" dirty="0">
                <a:solidFill>
                  <a:srgbClr val="073B4C"/>
                </a:solidFill>
                <a:latin typeface="Calibri" pitchFamily="34" charset="0"/>
                <a:ea typeface="Calibri" pitchFamily="34" charset="-122"/>
                <a:cs typeface="Calibri" pitchFamily="34" charset="-120"/>
              </a:rPr>
              <a:t>Every 2-4 days (illustrative)</a:t>
            </a:r>
            <a:endParaRPr lang="en-US" sz="1000" dirty="0"/>
          </a:p>
        </p:txBody>
      </p:sp>
      <p:sp>
        <p:nvSpPr>
          <p:cNvPr id="23" name="Text 21"/>
          <p:cNvSpPr txBox="1"/>
          <p:nvPr/>
        </p:nvSpPr>
        <p:spPr>
          <a:xfrm>
            <a:off x="457200" y="5715000"/>
            <a:ext cx="11247120" cy="274320"/>
          </a:xfrm>
          <a:prstGeom prst="rect">
            <a:avLst/>
          </a:prstGeom>
          <a:noFill/>
          <a:ln/>
        </p:spPr>
        <p:txBody>
          <a:bodyPr wrap="square" lIns="0" tIns="0" rIns="0" bIns="0" rtlCol="0" anchor="ctr"/>
          <a:lstStyle/>
          <a:p>
            <a:pPr indent="0" marL="0">
              <a:buNone/>
            </a:pPr>
            <a:r>
              <a:rPr lang="en-US" sz="900" i="1" dirty="0">
                <a:solidFill>
                  <a:srgbClr val="5C7A78"/>
                </a:solidFill>
                <a:latin typeface="Calibri" pitchFamily="34" charset="0"/>
                <a:ea typeface="Calibri" pitchFamily="34" charset="-122"/>
                <a:cs typeface="Calibri" pitchFamily="34" charset="-120"/>
              </a:rPr>
              <a:t>All measurements are illustrative target specifications to be confirmed during the prototyping phase.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789920" cy="457200"/>
          </a:xfrm>
          <a:prstGeom prst="rect">
            <a:avLst/>
          </a:prstGeom>
          <a:noFill/>
          <a:ln/>
        </p:spPr>
        <p:txBody>
          <a:bodyPr wrap="square" lIns="0" tIns="0" rIns="0" bIns="0" rtlCol="0" anchor="ctr"/>
          <a:lstStyle/>
          <a:p>
            <a:pPr indent="0" marL="0">
              <a:buNone/>
            </a:pPr>
            <a:r>
              <a:rPr lang="en-US" sz="2500" b="1" dirty="0">
                <a:solidFill>
                  <a:srgbClr val="073B4C"/>
                </a:solidFill>
                <a:latin typeface="Cambria" pitchFamily="34" charset="0"/>
                <a:ea typeface="Cambria" pitchFamily="34" charset="-122"/>
                <a:cs typeface="Cambria" pitchFamily="34" charset="-120"/>
              </a:rPr>
              <a:t>How the Sensors Work</a:t>
            </a:r>
            <a:endParaRPr lang="en-US" sz="2500" dirty="0"/>
          </a:p>
        </p:txBody>
      </p:sp>
      <p:sp>
        <p:nvSpPr>
          <p:cNvPr id="3" name="Text 1"/>
          <p:cNvSpPr txBox="1"/>
          <p:nvPr/>
        </p:nvSpPr>
        <p:spPr>
          <a:xfrm>
            <a:off x="457200" y="777240"/>
            <a:ext cx="10972800" cy="365760"/>
          </a:xfrm>
          <a:prstGeom prst="rect">
            <a:avLst/>
          </a:prstGeom>
          <a:noFill/>
          <a:ln/>
        </p:spPr>
        <p:txBody>
          <a:bodyPr wrap="square" lIns="0" tIns="0" rIns="0" bIns="0" rtlCol="0" anchor="ctr"/>
          <a:lstStyle/>
          <a:p>
            <a:pPr indent="0" marL="0">
              <a:buNone/>
            </a:pPr>
            <a:r>
              <a:rPr lang="en-US" sz="1300" dirty="0">
                <a:solidFill>
                  <a:srgbClr val="5C7A78"/>
                </a:solidFill>
                <a:latin typeface="Calibri" pitchFamily="34" charset="0"/>
                <a:ea typeface="Calibri" pitchFamily="34" charset="-122"/>
                <a:cs typeface="Calibri" pitchFamily="34" charset="-120"/>
              </a:rPr>
              <a:t>External, non-insertable - worn on the lower abdomen, over the uterus</a:t>
            </a:r>
            <a:endParaRPr lang="en-US" sz="1300" dirty="0"/>
          </a:p>
        </p:txBody>
      </p:sp>
      <p:sp>
        <p:nvSpPr>
          <p:cNvPr id="4" name="Shape 2"/>
          <p:cNvSpPr/>
          <p:nvPr/>
        </p:nvSpPr>
        <p:spPr>
          <a:xfrm>
            <a:off x="457200" y="1280160"/>
            <a:ext cx="5577840" cy="1920240"/>
          </a:xfrm>
          <a:prstGeom prst="rect">
            <a:avLst/>
          </a:prstGeom>
          <a:solidFill>
            <a:srgbClr val="F4FAF9"/>
          </a:solidFill>
          <a:ln w="12700">
            <a:solidFill>
              <a:srgbClr val="CFE3E1"/>
            </a:solidFill>
            <a:prstDash val="solid"/>
          </a:ln>
        </p:spPr>
      </p:sp>
      <p:sp>
        <p:nvSpPr>
          <p:cNvPr id="5" name="Text 3"/>
          <p:cNvSpPr txBox="1"/>
          <p:nvPr/>
        </p:nvSpPr>
        <p:spPr>
          <a:xfrm>
            <a:off x="640080" y="1417320"/>
            <a:ext cx="5212080" cy="2743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Where It's Worn</a:t>
            </a:r>
            <a:endParaRPr lang="en-US" sz="1300" dirty="0"/>
          </a:p>
        </p:txBody>
      </p:sp>
      <p:sp>
        <p:nvSpPr>
          <p:cNvPr id="6" name="Text 4"/>
          <p:cNvSpPr txBox="1"/>
          <p:nvPr/>
        </p:nvSpPr>
        <p:spPr>
          <a:xfrm>
            <a:off x="640080" y="1783080"/>
            <a:ext cx="5212080" cy="128016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Lower abdomen, over the uterus - the same placement used in clinical electrohysterography (EHG)</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Not the pelvic floor - a different, externally-accessible muscle group</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No insertion required, unlike Elvie, Perifit, or kGoal</a:t>
            </a:r>
            <a:endParaRPr lang="en-US" sz="950" dirty="0"/>
          </a:p>
        </p:txBody>
      </p:sp>
      <p:sp>
        <p:nvSpPr>
          <p:cNvPr id="7" name="Shape 5"/>
          <p:cNvSpPr/>
          <p:nvPr/>
        </p:nvSpPr>
        <p:spPr>
          <a:xfrm>
            <a:off x="6126480" y="1280160"/>
            <a:ext cx="5577840" cy="1920240"/>
          </a:xfrm>
          <a:prstGeom prst="rect">
            <a:avLst/>
          </a:prstGeom>
          <a:solidFill>
            <a:srgbClr val="E4F5F3"/>
          </a:solidFill>
          <a:ln w="15875">
            <a:solidFill>
              <a:srgbClr val="028090"/>
            </a:solidFill>
            <a:prstDash val="solid"/>
          </a:ln>
        </p:spPr>
      </p:sp>
      <p:sp>
        <p:nvSpPr>
          <p:cNvPr id="8" name="Text 6"/>
          <p:cNvSpPr txBox="1"/>
          <p:nvPr/>
        </p:nvSpPr>
        <p:spPr>
          <a:xfrm>
            <a:off x="6309360" y="1417320"/>
            <a:ext cx="5212080" cy="2743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What It Senses</a:t>
            </a:r>
            <a:endParaRPr lang="en-US" sz="1300" dirty="0"/>
          </a:p>
        </p:txBody>
      </p:sp>
      <p:sp>
        <p:nvSpPr>
          <p:cNvPr id="9" name="Text 7"/>
          <p:cNvSpPr txBox="1"/>
          <p:nvPr/>
        </p:nvSpPr>
        <p:spPr>
          <a:xfrm>
            <a:off x="6309360" y="1783080"/>
            <a:ext cx="5212080" cy="128016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EMG - abdominal/uterine muscle electrical activity</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GSR - autonomic stress response</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Strain - muscle tension and contraction, cross-checked to reject motion artifact</a:t>
            </a:r>
            <a:endParaRPr lang="en-US" sz="950" dirty="0"/>
          </a:p>
        </p:txBody>
      </p:sp>
      <p:sp>
        <p:nvSpPr>
          <p:cNvPr id="10" name="Text 8"/>
          <p:cNvSpPr txBox="1"/>
          <p:nvPr/>
        </p:nvSpPr>
        <p:spPr>
          <a:xfrm>
            <a:off x="457200" y="3429000"/>
            <a:ext cx="7315200" cy="292608"/>
          </a:xfrm>
          <a:prstGeom prst="rect">
            <a:avLst/>
          </a:prstGeom>
          <a:noFill/>
          <a:ln/>
        </p:spPr>
        <p:txBody>
          <a:bodyPr wrap="square" lIns="0" tIns="0" rIns="0" bIns="0" rtlCol="0" anchor="ctr"/>
          <a:lstStyle/>
          <a:p>
            <a:pPr indent="0" marL="0">
              <a:buNone/>
            </a:pPr>
            <a:r>
              <a:rPr lang="en-US" sz="1500" b="1" dirty="0">
                <a:solidFill>
                  <a:srgbClr val="073B4C"/>
                </a:solidFill>
                <a:latin typeface="Cambria" pitchFamily="34" charset="0"/>
                <a:ea typeface="Cambria" pitchFamily="34" charset="-122"/>
                <a:cs typeface="Cambria" pitchFamily="34" charset="-120"/>
              </a:rPr>
              <a:t>Grounded in Real Precedent</a:t>
            </a:r>
            <a:endParaRPr lang="en-US" sz="1500" dirty="0"/>
          </a:p>
        </p:txBody>
      </p:sp>
      <p:sp>
        <p:nvSpPr>
          <p:cNvPr id="11" name="Shape 9"/>
          <p:cNvSpPr/>
          <p:nvPr/>
        </p:nvSpPr>
        <p:spPr>
          <a:xfrm>
            <a:off x="457200" y="3794760"/>
            <a:ext cx="3639312" cy="1554480"/>
          </a:xfrm>
          <a:prstGeom prst="rect">
            <a:avLst/>
          </a:prstGeom>
          <a:solidFill>
            <a:srgbClr val="F4FAF9"/>
          </a:solidFill>
          <a:ln w="15875">
            <a:solidFill>
              <a:srgbClr val="028090"/>
            </a:solidFill>
            <a:prstDash val="solid"/>
          </a:ln>
        </p:spPr>
      </p:sp>
      <p:sp>
        <p:nvSpPr>
          <p:cNvPr id="12" name="Text 10"/>
          <p:cNvSpPr txBox="1"/>
          <p:nvPr/>
        </p:nvSpPr>
        <p:spPr>
          <a:xfrm>
            <a:off x="621792" y="3904488"/>
            <a:ext cx="3310128" cy="32004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Electrohysterography (EHG)</a:t>
            </a:r>
            <a:endParaRPr lang="en-US" sz="1100" dirty="0"/>
          </a:p>
        </p:txBody>
      </p:sp>
      <p:sp>
        <p:nvSpPr>
          <p:cNvPr id="13" name="Text 11"/>
          <p:cNvSpPr txBox="1"/>
          <p:nvPr/>
        </p:nvSpPr>
        <p:spPr>
          <a:xfrm>
            <a:off x="621792" y="4233672"/>
            <a:ext cx="3310128" cy="1005840"/>
          </a:xfrm>
          <a:prstGeom prst="rect">
            <a:avLst/>
          </a:prstGeom>
          <a:noFill/>
          <a:ln/>
        </p:spPr>
        <p:txBody>
          <a:bodyPr wrap="square" lIns="0" tIns="0" rIns="0" bIns="0" rtlCol="0" anchor="t"/>
          <a:lstStyle/>
          <a:p>
            <a:pPr indent="0" marL="0">
              <a:lnSpc>
                <a:spcPct val="110000"/>
              </a:lnSpc>
              <a:buNone/>
            </a:pPr>
            <a:r>
              <a:rPr lang="en-US" sz="900" dirty="0">
                <a:solidFill>
                  <a:srgbClr val="073B4C"/>
                </a:solidFill>
                <a:latin typeface="Calibri" pitchFamily="34" charset="0"/>
                <a:ea typeface="Calibri" pitchFamily="34" charset="-122"/>
                <a:cs typeface="Calibri" pitchFamily="34" charset="-120"/>
              </a:rPr>
              <a:t>An established, non-invasive clinical technique: adhesive surface electrodes on the abdomen read uterine electrical activity. Detects ~94% of contractions confirmed by an internal pressure reference, versus ~54% for older external methods.</a:t>
            </a:r>
            <a:endParaRPr lang="en-US" sz="900" dirty="0"/>
          </a:p>
        </p:txBody>
      </p:sp>
      <p:sp>
        <p:nvSpPr>
          <p:cNvPr id="14" name="Shape 12"/>
          <p:cNvSpPr/>
          <p:nvPr/>
        </p:nvSpPr>
        <p:spPr>
          <a:xfrm>
            <a:off x="4279392" y="3794760"/>
            <a:ext cx="3639312" cy="1554480"/>
          </a:xfrm>
          <a:prstGeom prst="rect">
            <a:avLst/>
          </a:prstGeom>
          <a:solidFill>
            <a:srgbClr val="F4FAF9"/>
          </a:solidFill>
          <a:ln w="15875">
            <a:solidFill>
              <a:srgbClr val="00A896"/>
            </a:solidFill>
            <a:prstDash val="solid"/>
          </a:ln>
        </p:spPr>
      </p:sp>
      <p:sp>
        <p:nvSpPr>
          <p:cNvPr id="15" name="Text 13"/>
          <p:cNvSpPr txBox="1"/>
          <p:nvPr/>
        </p:nvSpPr>
        <p:spPr>
          <a:xfrm>
            <a:off x="4443984" y="3904488"/>
            <a:ext cx="3310128" cy="320040"/>
          </a:xfrm>
          <a:prstGeom prst="rect">
            <a:avLst/>
          </a:prstGeom>
          <a:noFill/>
          <a:ln/>
        </p:spPr>
        <p:txBody>
          <a:bodyPr wrap="square" lIns="0" tIns="0" rIns="0" bIns="0"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Jo et al., 2018</a:t>
            </a:r>
            <a:endParaRPr lang="en-US" sz="1100" dirty="0"/>
          </a:p>
        </p:txBody>
      </p:sp>
      <p:sp>
        <p:nvSpPr>
          <p:cNvPr id="16" name="Text 14"/>
          <p:cNvSpPr txBox="1"/>
          <p:nvPr/>
        </p:nvSpPr>
        <p:spPr>
          <a:xfrm>
            <a:off x="4443984" y="4233672"/>
            <a:ext cx="3310128" cy="1005840"/>
          </a:xfrm>
          <a:prstGeom prst="rect">
            <a:avLst/>
          </a:prstGeom>
          <a:noFill/>
          <a:ln/>
        </p:spPr>
        <p:txBody>
          <a:bodyPr wrap="square" lIns="0" tIns="0" rIns="0" bIns="0" rtlCol="0" anchor="t"/>
          <a:lstStyle/>
          <a:p>
            <a:pPr indent="0" marL="0">
              <a:lnSpc>
                <a:spcPct val="110000"/>
              </a:lnSpc>
              <a:buNone/>
            </a:pPr>
            <a:r>
              <a:rPr lang="en-US" sz="900" dirty="0">
                <a:solidFill>
                  <a:srgbClr val="073B4C"/>
                </a:solidFill>
                <a:latin typeface="Calibri" pitchFamily="34" charset="0"/>
                <a:ea typeface="Calibri" pitchFamily="34" charset="-122"/>
                <a:cs typeface="Calibri" pitchFamily="34" charset="-120"/>
              </a:rPr>
              <a:t>Built a real abdomen-attachable uterine EMG patch, ~43mm x 36mm, close to FlexiCure's own target size - direct academic precedent for this exact approach.</a:t>
            </a:r>
            <a:endParaRPr lang="en-US" sz="900" dirty="0"/>
          </a:p>
        </p:txBody>
      </p:sp>
      <p:sp>
        <p:nvSpPr>
          <p:cNvPr id="17" name="Shape 15"/>
          <p:cNvSpPr/>
          <p:nvPr/>
        </p:nvSpPr>
        <p:spPr>
          <a:xfrm>
            <a:off x="8101584" y="3794760"/>
            <a:ext cx="3639312" cy="1554480"/>
          </a:xfrm>
          <a:prstGeom prst="rect">
            <a:avLst/>
          </a:prstGeom>
          <a:solidFill>
            <a:srgbClr val="F4FAF9"/>
          </a:solidFill>
          <a:ln w="15875">
            <a:solidFill>
              <a:srgbClr val="02C39A"/>
            </a:solidFill>
            <a:prstDash val="solid"/>
          </a:ln>
        </p:spPr>
      </p:sp>
      <p:sp>
        <p:nvSpPr>
          <p:cNvPr id="18" name="Text 16"/>
          <p:cNvSpPr txBox="1"/>
          <p:nvPr/>
        </p:nvSpPr>
        <p:spPr>
          <a:xfrm>
            <a:off x="8266176" y="3904488"/>
            <a:ext cx="3310128" cy="320040"/>
          </a:xfrm>
          <a:prstGeom prst="rect">
            <a:avLst/>
          </a:prstGeom>
          <a:noFill/>
          <a:ln/>
        </p:spPr>
        <p:txBody>
          <a:bodyPr wrap="square" lIns="0" tIns="0" rIns="0" bIns="0"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Monica AN24</a:t>
            </a:r>
            <a:endParaRPr lang="en-US" sz="1100" dirty="0"/>
          </a:p>
        </p:txBody>
      </p:sp>
      <p:sp>
        <p:nvSpPr>
          <p:cNvPr id="19" name="Text 17"/>
          <p:cNvSpPr txBox="1"/>
          <p:nvPr/>
        </p:nvSpPr>
        <p:spPr>
          <a:xfrm>
            <a:off x="8266176" y="4233672"/>
            <a:ext cx="3310128" cy="1005840"/>
          </a:xfrm>
          <a:prstGeom prst="rect">
            <a:avLst/>
          </a:prstGeom>
          <a:noFill/>
          <a:ln/>
        </p:spPr>
        <p:txBody>
          <a:bodyPr wrap="square" lIns="0" tIns="0" rIns="0" bIns="0" rtlCol="0" anchor="t"/>
          <a:lstStyle/>
          <a:p>
            <a:pPr indent="0" marL="0">
              <a:lnSpc>
                <a:spcPct val="110000"/>
              </a:lnSpc>
              <a:buNone/>
            </a:pPr>
            <a:r>
              <a:rPr lang="en-US" sz="900" dirty="0">
                <a:solidFill>
                  <a:srgbClr val="073B4C"/>
                </a:solidFill>
                <a:latin typeface="Calibri" pitchFamily="34" charset="0"/>
                <a:ea typeface="Calibri" pitchFamily="34" charset="-122"/>
                <a:cs typeface="Calibri" pitchFamily="34" charset="-120"/>
              </a:rPr>
              <a:t>A real commercial wireless abdominal EMG patch, already used clinically to monitor uterine activity - proof this sensing approach is already trusted in practice.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789920" cy="457200"/>
          </a:xfrm>
          <a:prstGeom prst="rect">
            <a:avLst/>
          </a:prstGeom>
          <a:noFill/>
          <a:ln/>
        </p:spPr>
        <p:txBody>
          <a:bodyPr wrap="square" lIns="0" tIns="0" rIns="0" bIns="0" rtlCol="0" anchor="ctr"/>
          <a:lstStyle/>
          <a:p>
            <a:pPr indent="0" marL="0">
              <a:buNone/>
            </a:pPr>
            <a:r>
              <a:rPr lang="en-US" sz="2500" b="1" dirty="0">
                <a:solidFill>
                  <a:srgbClr val="073B4C"/>
                </a:solidFill>
                <a:latin typeface="Cambria" pitchFamily="34" charset="0"/>
                <a:ea typeface="Cambria" pitchFamily="34" charset="-122"/>
                <a:cs typeface="Cambria" pitchFamily="34" charset="-120"/>
              </a:rPr>
              <a:t>FlexiCure Respond: From Sensing to Soothing</a:t>
            </a:r>
            <a:endParaRPr lang="en-US" sz="2500" dirty="0"/>
          </a:p>
        </p:txBody>
      </p:sp>
      <p:sp>
        <p:nvSpPr>
          <p:cNvPr id="3" name="Text 1"/>
          <p:cNvSpPr txBox="1"/>
          <p:nvPr/>
        </p:nvSpPr>
        <p:spPr>
          <a:xfrm>
            <a:off x="457200" y="777240"/>
            <a:ext cx="10972800" cy="365760"/>
          </a:xfrm>
          <a:prstGeom prst="rect">
            <a:avLst/>
          </a:prstGeom>
          <a:noFill/>
          <a:ln/>
        </p:spPr>
        <p:txBody>
          <a:bodyPr wrap="square" lIns="0" tIns="0" rIns="0" bIns="0" rtlCol="0" anchor="ctr"/>
          <a:lstStyle/>
          <a:p>
            <a:pPr indent="0" marL="0">
              <a:buNone/>
            </a:pPr>
            <a:r>
              <a:rPr lang="en-US" sz="1300" dirty="0">
                <a:solidFill>
                  <a:srgbClr val="5C7A78"/>
                </a:solidFill>
                <a:latin typeface="Calibri" pitchFamily="34" charset="0"/>
                <a:ea typeface="Calibri" pitchFamily="34" charset="-122"/>
                <a:cs typeface="Calibri" pitchFamily="34" charset="-120"/>
              </a:rPr>
              <a:t>Heat lives on the attachable part - powered separately from the electronics module</a:t>
            </a:r>
            <a:endParaRPr lang="en-US" sz="1300" dirty="0"/>
          </a:p>
        </p:txBody>
      </p:sp>
      <p:sp>
        <p:nvSpPr>
          <p:cNvPr id="4" name="Shape 2"/>
          <p:cNvSpPr/>
          <p:nvPr/>
        </p:nvSpPr>
        <p:spPr>
          <a:xfrm>
            <a:off x="457200" y="1280160"/>
            <a:ext cx="5577840" cy="2286000"/>
          </a:xfrm>
          <a:prstGeom prst="rect">
            <a:avLst/>
          </a:prstGeom>
          <a:solidFill>
            <a:srgbClr val="E4F5F3"/>
          </a:solidFill>
          <a:ln w="19050">
            <a:solidFill>
              <a:srgbClr val="028090"/>
            </a:solidFill>
            <a:prstDash val="solid"/>
          </a:ln>
        </p:spPr>
      </p:sp>
      <p:sp>
        <p:nvSpPr>
          <p:cNvPr id="5" name="Text 3"/>
          <p:cNvSpPr txBox="1"/>
          <p:nvPr/>
        </p:nvSpPr>
        <p:spPr>
          <a:xfrm>
            <a:off x="640080" y="1417320"/>
            <a:ext cx="5212080" cy="2743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The Feature</a:t>
            </a:r>
            <a:endParaRPr lang="en-US" sz="1300" dirty="0"/>
          </a:p>
        </p:txBody>
      </p:sp>
      <p:sp>
        <p:nvSpPr>
          <p:cNvPr id="6" name="Text 4"/>
          <p:cNvSpPr txBox="1"/>
          <p:nvPr/>
        </p:nvSpPr>
        <p:spPr>
          <a:xfrm>
            <a:off x="640080" y="1783080"/>
            <a:ext cx="5212080" cy="164592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1000" dirty="0">
                <a:solidFill>
                  <a:srgbClr val="073B4C"/>
                </a:solidFill>
                <a:latin typeface="Calibri" pitchFamily="34" charset="0"/>
                <a:ea typeface="Calibri" pitchFamily="34" charset="-122"/>
                <a:cs typeface="Calibri" pitchFamily="34" charset="-120"/>
              </a:rPr>
              <a:t>A thin-film resistive heating element on the attachable part</a:t>
            </a:r>
            <a:endParaRPr lang="en-US" sz="1000" dirty="0"/>
          </a:p>
          <a:p>
            <a:pPr marL="127000" indent="-127000">
              <a:lnSpc>
                <a:spcPct val="112000"/>
              </a:lnSpc>
              <a:spcAft>
                <a:spcPts val="800"/>
              </a:spcAft>
              <a:buSzPct val="100000"/>
              <a:buChar char="•"/>
            </a:pPr>
            <a:r>
              <a:rPr lang="en-US" sz="1000" dirty="0">
                <a:solidFill>
                  <a:srgbClr val="073B4C"/>
                </a:solidFill>
                <a:latin typeface="Calibri" pitchFamily="34" charset="0"/>
                <a:ea typeface="Calibri" pitchFamily="34" charset="-122"/>
                <a:cs typeface="Calibri" pitchFamily="34" charset="-120"/>
              </a:rPr>
              <a:t>Triggers automatically when tension is detected, or manually via the app</a:t>
            </a:r>
            <a:endParaRPr lang="en-US" sz="1000" dirty="0"/>
          </a:p>
          <a:p>
            <a:pPr marL="127000" indent="-127000">
              <a:lnSpc>
                <a:spcPct val="112000"/>
              </a:lnSpc>
              <a:spcAft>
                <a:spcPts val="800"/>
              </a:spcAft>
              <a:buSzPct val="100000"/>
              <a:buChar char="•"/>
            </a:pPr>
            <a:r>
              <a:rPr lang="en-US" sz="1000" dirty="0">
                <a:solidFill>
                  <a:srgbClr val="073B4C"/>
                </a:solidFill>
                <a:latin typeface="Calibri" pitchFamily="34" charset="0"/>
                <a:ea typeface="Calibri" pitchFamily="34" charset="-122"/>
                <a:cs typeface="Calibri" pitchFamily="34" charset="-120"/>
              </a:rPr>
              <a:t>Powered by the attachable part's own small cell, not the rechargeable module</a:t>
            </a:r>
            <a:endParaRPr lang="en-US" sz="1000" dirty="0"/>
          </a:p>
          <a:p>
            <a:pPr marL="127000" indent="-127000">
              <a:lnSpc>
                <a:spcPct val="112000"/>
              </a:lnSpc>
              <a:spcAft>
                <a:spcPts val="800"/>
              </a:spcAft>
              <a:buSzPct val="100000"/>
              <a:buChar char="•"/>
            </a:pPr>
            <a:r>
              <a:rPr lang="en-US" sz="1000" dirty="0">
                <a:solidFill>
                  <a:srgbClr val="073B4C"/>
                </a:solidFill>
                <a:latin typeface="Calibri" pitchFamily="34" charset="0"/>
                <a:ea typeface="Calibri" pitchFamily="34" charset="-122"/>
                <a:cs typeface="Calibri" pitchFamily="34" charset="-120"/>
              </a:rPr>
              <a:t>Optional: Respond+ compatibility with existing Bluetooth heat or vibration devices, for a stronger session</a:t>
            </a:r>
            <a:endParaRPr lang="en-US" sz="1000" dirty="0"/>
          </a:p>
        </p:txBody>
      </p:sp>
      <p:sp>
        <p:nvSpPr>
          <p:cNvPr id="7" name="Shape 5"/>
          <p:cNvSpPr/>
          <p:nvPr/>
        </p:nvSpPr>
        <p:spPr>
          <a:xfrm>
            <a:off x="6126480" y="1280160"/>
            <a:ext cx="5577840" cy="2286000"/>
          </a:xfrm>
          <a:prstGeom prst="rect">
            <a:avLst/>
          </a:prstGeom>
          <a:solidFill>
            <a:srgbClr val="F4FAF9"/>
          </a:solidFill>
          <a:ln w="12700">
            <a:solidFill>
              <a:srgbClr val="CFE3E1"/>
            </a:solidFill>
            <a:prstDash val="solid"/>
          </a:ln>
        </p:spPr>
      </p:sp>
      <p:sp>
        <p:nvSpPr>
          <p:cNvPr id="8" name="Text 6"/>
          <p:cNvSpPr txBox="1"/>
          <p:nvPr/>
        </p:nvSpPr>
        <p:spPr>
          <a:xfrm>
            <a:off x="6309360" y="1417320"/>
            <a:ext cx="5212080" cy="2743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Why Power Is Split This Way</a:t>
            </a:r>
            <a:endParaRPr lang="en-US" sz="1300" dirty="0"/>
          </a:p>
        </p:txBody>
      </p:sp>
      <p:sp>
        <p:nvSpPr>
          <p:cNvPr id="9" name="Text 7"/>
          <p:cNvSpPr txBox="1"/>
          <p:nvPr/>
        </p:nvSpPr>
        <p:spPr>
          <a:xfrm>
            <a:off x="6309360" y="1783080"/>
            <a:ext cx="5212080" cy="164592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1000" dirty="0">
                <a:solidFill>
                  <a:srgbClr val="073B4C"/>
                </a:solidFill>
                <a:latin typeface="Calibri" pitchFamily="34" charset="0"/>
                <a:ea typeface="Calibri" pitchFamily="34" charset="-122"/>
                <a:cs typeface="Calibri" pitchFamily="34" charset="-120"/>
              </a:rPr>
              <a:t>Sensing draws ~150-200 microwatts continuous - a week's use needs only ~30 mWh</a:t>
            </a:r>
            <a:endParaRPr lang="en-US" sz="1000" dirty="0"/>
          </a:p>
          <a:p>
            <a:pPr marL="127000" indent="-127000">
              <a:lnSpc>
                <a:spcPct val="112000"/>
              </a:lnSpc>
              <a:spcAft>
                <a:spcPts val="800"/>
              </a:spcAft>
              <a:buSzPct val="100000"/>
              <a:buChar char="•"/>
            </a:pPr>
            <a:r>
              <a:rPr lang="en-US" sz="1000" dirty="0">
                <a:solidFill>
                  <a:srgbClr val="073B4C"/>
                </a:solidFill>
                <a:latin typeface="Calibri" pitchFamily="34" charset="0"/>
                <a:ea typeface="Calibri" pitchFamily="34" charset="-122"/>
                <a:cs typeface="Calibri" pitchFamily="34" charset="-120"/>
              </a:rPr>
              <a:t>A single heat session can draw ~60-190 mWh - more than a week of sensing, in minutes</a:t>
            </a:r>
            <a:endParaRPr lang="en-US" sz="1000" dirty="0"/>
          </a:p>
          <a:p>
            <a:pPr marL="127000" indent="-127000">
              <a:lnSpc>
                <a:spcPct val="112000"/>
              </a:lnSpc>
              <a:spcAft>
                <a:spcPts val="800"/>
              </a:spcAft>
              <a:buSzPct val="100000"/>
              <a:buChar char="•"/>
            </a:pPr>
            <a:r>
              <a:rPr lang="en-US" sz="1000" dirty="0">
                <a:solidFill>
                  <a:srgbClr val="073B4C"/>
                </a:solidFill>
                <a:latin typeface="Calibri" pitchFamily="34" charset="0"/>
                <a:ea typeface="Calibri" pitchFamily="34" charset="-122"/>
                <a:cs typeface="Calibri" pitchFamily="34" charset="-120"/>
              </a:rPr>
              <a:t>Splitting power keeps the module's 7-day claim true regardless of how much heat is used</a:t>
            </a:r>
            <a:endParaRPr lang="en-US" sz="1000" dirty="0"/>
          </a:p>
        </p:txBody>
      </p:sp>
      <p:sp>
        <p:nvSpPr>
          <p:cNvPr id="10" name="Text 8"/>
          <p:cNvSpPr txBox="1"/>
          <p:nvPr/>
        </p:nvSpPr>
        <p:spPr>
          <a:xfrm>
            <a:off x="457200" y="3794760"/>
            <a:ext cx="5486400" cy="292608"/>
          </a:xfrm>
          <a:prstGeom prst="rect">
            <a:avLst/>
          </a:prstGeom>
          <a:noFill/>
          <a:ln/>
        </p:spPr>
        <p:txBody>
          <a:bodyPr wrap="square" lIns="0" tIns="0" rIns="0" bIns="0" rtlCol="0" anchor="ctr"/>
          <a:lstStyle/>
          <a:p>
            <a:pPr indent="0" marL="0">
              <a:buNone/>
            </a:pPr>
            <a:r>
              <a:rPr lang="en-US" sz="1500" b="1" dirty="0">
                <a:solidFill>
                  <a:srgbClr val="073B4C"/>
                </a:solidFill>
                <a:latin typeface="Cambria" pitchFamily="34" charset="0"/>
                <a:ea typeface="Cambria" pitchFamily="34" charset="-122"/>
                <a:cs typeface="Cambria" pitchFamily="34" charset="-120"/>
              </a:rPr>
              <a:t>Two Modalities</a:t>
            </a:r>
            <a:endParaRPr lang="en-US" sz="1500" dirty="0"/>
          </a:p>
        </p:txBody>
      </p:sp>
      <p:sp>
        <p:nvSpPr>
          <p:cNvPr id="11" name="Shape 9"/>
          <p:cNvSpPr/>
          <p:nvPr/>
        </p:nvSpPr>
        <p:spPr>
          <a:xfrm>
            <a:off x="457200" y="4160520"/>
            <a:ext cx="5394960" cy="1188720"/>
          </a:xfrm>
          <a:prstGeom prst="rect">
            <a:avLst/>
          </a:prstGeom>
          <a:solidFill>
            <a:srgbClr val="F4FAF9"/>
          </a:solidFill>
          <a:ln w="15875">
            <a:solidFill>
              <a:srgbClr val="028090"/>
            </a:solidFill>
            <a:prstDash val="solid"/>
          </a:ln>
        </p:spPr>
      </p:sp>
      <p:sp>
        <p:nvSpPr>
          <p:cNvPr id="12" name="Text 10"/>
          <p:cNvSpPr txBox="1"/>
          <p:nvPr/>
        </p:nvSpPr>
        <p:spPr>
          <a:xfrm>
            <a:off x="640080" y="4270248"/>
            <a:ext cx="5029200" cy="274320"/>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Built In: Heat</a:t>
            </a:r>
            <a:endParaRPr lang="en-US" sz="1150" dirty="0"/>
          </a:p>
        </p:txBody>
      </p:sp>
      <p:sp>
        <p:nvSpPr>
          <p:cNvPr id="13" name="Text 11"/>
          <p:cNvSpPr txBox="1"/>
          <p:nvPr/>
        </p:nvSpPr>
        <p:spPr>
          <a:xfrm>
            <a:off x="640080" y="4572000"/>
            <a:ext cx="5029200" cy="685800"/>
          </a:xfrm>
          <a:prstGeom prst="rect">
            <a:avLst/>
          </a:prstGeom>
          <a:noFill/>
          <a:ln/>
        </p:spPr>
        <p:txBody>
          <a:bodyPr wrap="square" lIns="0" tIns="0" rIns="0" bIns="0" rtlCol="0" anchor="t"/>
          <a:lstStyle/>
          <a:p>
            <a:pPr indent="0" marL="0">
              <a:lnSpc>
                <a:spcPct val="110000"/>
              </a:lnSpc>
              <a:buNone/>
            </a:pPr>
            <a:r>
              <a:rPr lang="en-US" sz="950" dirty="0">
                <a:solidFill>
                  <a:srgbClr val="073B4C"/>
                </a:solidFill>
                <a:latin typeface="Calibri" pitchFamily="34" charset="0"/>
                <a:ea typeface="Calibri" pitchFamily="34" charset="-122"/>
                <a:cs typeface="Calibri" pitchFamily="34" charset="-120"/>
              </a:rPr>
              <a:t>Standalone, always available while worn - no other device required.</a:t>
            </a:r>
            <a:endParaRPr lang="en-US" sz="950" dirty="0"/>
          </a:p>
        </p:txBody>
      </p:sp>
      <p:sp>
        <p:nvSpPr>
          <p:cNvPr id="14" name="Shape 12"/>
          <p:cNvSpPr/>
          <p:nvPr/>
        </p:nvSpPr>
        <p:spPr>
          <a:xfrm>
            <a:off x="6309360" y="4160520"/>
            <a:ext cx="5394960" cy="1188720"/>
          </a:xfrm>
          <a:prstGeom prst="rect">
            <a:avLst/>
          </a:prstGeom>
          <a:solidFill>
            <a:srgbClr val="F4FAF9"/>
          </a:solidFill>
          <a:ln w="15875">
            <a:solidFill>
              <a:srgbClr val="00A896"/>
            </a:solidFill>
            <a:prstDash val="solid"/>
          </a:ln>
        </p:spPr>
      </p:sp>
      <p:sp>
        <p:nvSpPr>
          <p:cNvPr id="15" name="Text 13"/>
          <p:cNvSpPr txBox="1"/>
          <p:nvPr/>
        </p:nvSpPr>
        <p:spPr>
          <a:xfrm>
            <a:off x="6492240" y="4270248"/>
            <a:ext cx="5029200" cy="274320"/>
          </a:xfrm>
          <a:prstGeom prst="rect">
            <a:avLst/>
          </a:prstGeom>
          <a:noFill/>
          <a:ln/>
        </p:spPr>
        <p:txBody>
          <a:bodyPr wrap="square" lIns="0" tIns="0" rIns="0" bIns="0" rtlCol="0" anchor="ctr"/>
          <a:lstStyle/>
          <a:p>
            <a:pPr indent="0" marL="0">
              <a:buNone/>
            </a:pPr>
            <a:r>
              <a:rPr lang="en-US" sz="1150" b="1" dirty="0">
                <a:solidFill>
                  <a:srgbClr val="00A896"/>
                </a:solidFill>
                <a:latin typeface="Calibri" pitchFamily="34" charset="0"/>
                <a:ea typeface="Calibri" pitchFamily="34" charset="-122"/>
                <a:cs typeface="Calibri" pitchFamily="34" charset="-120"/>
              </a:rPr>
              <a:t>Optional: External Devices</a:t>
            </a:r>
            <a:endParaRPr lang="en-US" sz="1150" dirty="0"/>
          </a:p>
        </p:txBody>
      </p:sp>
      <p:sp>
        <p:nvSpPr>
          <p:cNvPr id="16" name="Text 14"/>
          <p:cNvSpPr txBox="1"/>
          <p:nvPr/>
        </p:nvSpPr>
        <p:spPr>
          <a:xfrm>
            <a:off x="6492240" y="4572000"/>
            <a:ext cx="5029200" cy="685800"/>
          </a:xfrm>
          <a:prstGeom prst="rect">
            <a:avLst/>
          </a:prstGeom>
          <a:noFill/>
          <a:ln/>
        </p:spPr>
        <p:txBody>
          <a:bodyPr wrap="square" lIns="0" tIns="0" rIns="0" bIns="0" rtlCol="0" anchor="t"/>
          <a:lstStyle/>
          <a:p>
            <a:pPr indent="0" marL="0">
              <a:lnSpc>
                <a:spcPct val="110000"/>
              </a:lnSpc>
              <a:buNone/>
            </a:pPr>
            <a:r>
              <a:rPr lang="en-US" sz="950" dirty="0">
                <a:solidFill>
                  <a:srgbClr val="073B4C"/>
                </a:solidFill>
                <a:latin typeface="Calibri" pitchFamily="34" charset="0"/>
                <a:ea typeface="Calibri" pitchFamily="34" charset="-122"/>
                <a:cs typeface="Calibri" pitchFamily="34" charset="-120"/>
              </a:rPr>
              <a:t>Connects to existing Bluetooth heat or vibration pads already on the market, for a stronger or longer session.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789920" cy="457200"/>
          </a:xfrm>
          <a:prstGeom prst="rect">
            <a:avLst/>
          </a:prstGeom>
          <a:noFill/>
          <a:ln/>
        </p:spPr>
        <p:txBody>
          <a:bodyPr wrap="square" lIns="0" tIns="0" rIns="0" bIns="0" rtlCol="0" anchor="ctr"/>
          <a:lstStyle/>
          <a:p>
            <a:pPr indent="0" marL="0">
              <a:buNone/>
            </a:pPr>
            <a:r>
              <a:rPr lang="en-US" sz="2500" b="1" dirty="0">
                <a:solidFill>
                  <a:srgbClr val="073B4C"/>
                </a:solidFill>
                <a:latin typeface="Cambria" pitchFamily="34" charset="0"/>
                <a:ea typeface="Cambria" pitchFamily="34" charset="-122"/>
                <a:cs typeface="Cambria" pitchFamily="34" charset="-120"/>
              </a:rPr>
              <a:t>Companion App: Features &amp; How It Works</a:t>
            </a:r>
            <a:endParaRPr lang="en-US" sz="2500" dirty="0"/>
          </a:p>
        </p:txBody>
      </p:sp>
      <p:sp>
        <p:nvSpPr>
          <p:cNvPr id="3" name="Text 1"/>
          <p:cNvSpPr txBox="1"/>
          <p:nvPr/>
        </p:nvSpPr>
        <p:spPr>
          <a:xfrm>
            <a:off x="457200" y="777240"/>
            <a:ext cx="10972800" cy="365760"/>
          </a:xfrm>
          <a:prstGeom prst="rect">
            <a:avLst/>
          </a:prstGeom>
          <a:noFill/>
          <a:ln/>
        </p:spPr>
        <p:txBody>
          <a:bodyPr wrap="square" lIns="0" tIns="0" rIns="0" bIns="0" rtlCol="0" anchor="ctr"/>
          <a:lstStyle/>
          <a:p>
            <a:pPr indent="0" marL="0">
              <a:buNone/>
            </a:pPr>
            <a:r>
              <a:rPr lang="en-US" sz="1300" dirty="0">
                <a:solidFill>
                  <a:srgbClr val="5C7A78"/>
                </a:solidFill>
                <a:latin typeface="Calibri" pitchFamily="34" charset="0"/>
                <a:ea typeface="Calibri" pitchFamily="34" charset="-122"/>
                <a:cs typeface="Calibri" pitchFamily="34" charset="-120"/>
              </a:rPr>
              <a:t>One-tap logging that makes the heat trigger smarter over time</a:t>
            </a:r>
            <a:endParaRPr lang="en-US" sz="1300" dirty="0"/>
          </a:p>
        </p:txBody>
      </p:sp>
      <p:sp>
        <p:nvSpPr>
          <p:cNvPr id="4" name="Shape 2"/>
          <p:cNvSpPr/>
          <p:nvPr/>
        </p:nvSpPr>
        <p:spPr>
          <a:xfrm>
            <a:off x="457200" y="1280160"/>
            <a:ext cx="5486400" cy="4937760"/>
          </a:xfrm>
          <a:prstGeom prst="rect">
            <a:avLst/>
          </a:prstGeom>
          <a:solidFill>
            <a:srgbClr val="F4FAF9"/>
          </a:solidFill>
          <a:ln w="12700">
            <a:solidFill>
              <a:srgbClr val="CFE3E1"/>
            </a:solidFill>
            <a:prstDash val="solid"/>
          </a:ln>
        </p:spPr>
      </p:sp>
      <p:sp>
        <p:nvSpPr>
          <p:cNvPr id="5" name="Text 3"/>
          <p:cNvSpPr txBox="1"/>
          <p:nvPr/>
        </p:nvSpPr>
        <p:spPr>
          <a:xfrm>
            <a:off x="685800" y="1444752"/>
            <a:ext cx="5029200" cy="32004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App Features</a:t>
            </a:r>
            <a:endParaRPr lang="en-US" sz="1400" dirty="0"/>
          </a:p>
        </p:txBody>
      </p:sp>
      <p:sp>
        <p:nvSpPr>
          <p:cNvPr id="6" name="Text 4"/>
          <p:cNvSpPr txBox="1"/>
          <p:nvPr/>
        </p:nvSpPr>
        <p:spPr>
          <a:xfrm>
            <a:off x="685800" y="1828800"/>
            <a:ext cx="5029200" cy="4251960"/>
          </a:xfrm>
          <a:prstGeom prst="rect">
            <a:avLst/>
          </a:prstGeom>
          <a:noFill/>
          <a:ln/>
        </p:spPr>
        <p:txBody>
          <a:bodyPr wrap="square" lIns="0" tIns="0" rIns="0" bIns="0" rtlCol="0" anchor="t"/>
          <a:lstStyle/>
          <a:p>
            <a:pPr marL="127000" indent="-127000">
              <a:lnSpc>
                <a:spcPct val="115000"/>
              </a:lnSpc>
              <a:spcAft>
                <a:spcPts val="900"/>
              </a:spcAft>
              <a:buSzPct val="100000"/>
              <a:buChar char="•"/>
            </a:pPr>
            <a:r>
              <a:rPr lang="en-US" sz="1000" dirty="0">
                <a:solidFill>
                  <a:srgbClr val="073B4C"/>
                </a:solidFill>
                <a:latin typeface="Calibri" pitchFamily="34" charset="0"/>
                <a:ea typeface="Calibri" pitchFamily="34" charset="-122"/>
                <a:cs typeface="Calibri" pitchFamily="34" charset="-120"/>
              </a:rPr>
              <a:t>Comfort Check - one-tap logging (Easy / Manageable / Hard / Severe), no forms, no typing</a:t>
            </a:r>
            <a:endParaRPr lang="en-US" sz="1000" dirty="0"/>
          </a:p>
          <a:p>
            <a:pPr marL="127000" indent="-127000">
              <a:lnSpc>
                <a:spcPct val="115000"/>
              </a:lnSpc>
              <a:spcAft>
                <a:spcPts val="900"/>
              </a:spcAft>
              <a:buSzPct val="100000"/>
              <a:buChar char="•"/>
            </a:pPr>
            <a:r>
              <a:rPr lang="en-US" sz="1000" dirty="0">
                <a:solidFill>
                  <a:srgbClr val="073B4C"/>
                </a:solidFill>
                <a:latin typeface="Calibri" pitchFamily="34" charset="0"/>
                <a:ea typeface="Calibri" pitchFamily="34" charset="-122"/>
                <a:cs typeface="Calibri" pitchFamily="34" charset="-120"/>
              </a:rPr>
              <a:t>Period Log - a simple calendar log for period start/end dates, tagging every event to a cycle day</a:t>
            </a:r>
            <a:endParaRPr lang="en-US" sz="1000" dirty="0"/>
          </a:p>
          <a:p>
            <a:pPr marL="127000" indent="-127000">
              <a:lnSpc>
                <a:spcPct val="115000"/>
              </a:lnSpc>
              <a:spcAft>
                <a:spcPts val="900"/>
              </a:spcAft>
              <a:buSzPct val="100000"/>
              <a:buChar char="•"/>
            </a:pPr>
            <a:r>
              <a:rPr lang="en-US" sz="1000" dirty="0">
                <a:solidFill>
                  <a:srgbClr val="073B4C"/>
                </a:solidFill>
                <a:latin typeface="Calibri" pitchFamily="34" charset="0"/>
                <a:ea typeface="Calibri" pitchFamily="34" charset="-122"/>
                <a:cs typeface="Calibri" pitchFamily="34" charset="-120"/>
              </a:rPr>
              <a:t>Comfort Forecast - proactive heat suggestions based on the user's own logged pattern</a:t>
            </a:r>
            <a:endParaRPr lang="en-US" sz="1000" dirty="0"/>
          </a:p>
          <a:p>
            <a:pPr marL="127000" indent="-127000">
              <a:lnSpc>
                <a:spcPct val="115000"/>
              </a:lnSpc>
              <a:spcAft>
                <a:spcPts val="900"/>
              </a:spcAft>
              <a:buSzPct val="100000"/>
              <a:buChar char="•"/>
            </a:pPr>
            <a:r>
              <a:rPr lang="en-US" sz="1000" dirty="0">
                <a:solidFill>
                  <a:srgbClr val="073B4C"/>
                </a:solidFill>
                <a:latin typeface="Calibri" pitchFamily="34" charset="0"/>
                <a:ea typeface="Calibri" pitchFamily="34" charset="-122"/>
                <a:cs typeface="Calibri" pitchFamily="34" charset="-120"/>
              </a:rPr>
              <a:t>Live sensor readings - EMG, GSR, and strain visible at a glance, not just a summary status</a:t>
            </a:r>
            <a:endParaRPr lang="en-US" sz="1000" dirty="0"/>
          </a:p>
          <a:p>
            <a:pPr marL="127000" indent="-127000">
              <a:lnSpc>
                <a:spcPct val="115000"/>
              </a:lnSpc>
              <a:spcAft>
                <a:spcPts val="900"/>
              </a:spcAft>
              <a:buSzPct val="100000"/>
              <a:buChar char="•"/>
            </a:pPr>
            <a:r>
              <a:rPr lang="en-US" sz="1000" dirty="0">
                <a:solidFill>
                  <a:srgbClr val="073B4C"/>
                </a:solidFill>
                <a:latin typeface="Calibri" pitchFamily="34" charset="0"/>
                <a:ea typeface="Calibri" pitchFamily="34" charset="-122"/>
                <a:cs typeface="Calibri" pitchFamily="34" charset="-120"/>
              </a:rPr>
              <a:t>Manual Respond trigger - heat on demand, independent of automatic detection</a:t>
            </a:r>
            <a:endParaRPr lang="en-US" sz="1000" dirty="0"/>
          </a:p>
          <a:p>
            <a:pPr marL="127000" indent="-127000">
              <a:lnSpc>
                <a:spcPct val="115000"/>
              </a:lnSpc>
              <a:spcAft>
                <a:spcPts val="900"/>
              </a:spcAft>
              <a:buSzPct val="100000"/>
              <a:buChar char="•"/>
            </a:pPr>
            <a:r>
              <a:rPr lang="en-US" sz="1000" dirty="0">
                <a:solidFill>
                  <a:srgbClr val="073B4C"/>
                </a:solidFill>
                <a:latin typeface="Calibri" pitchFamily="34" charset="0"/>
                <a:ea typeface="Calibri" pitchFamily="34" charset="-122"/>
                <a:cs typeface="Calibri" pitchFamily="34" charset="-120"/>
              </a:rPr>
              <a:t>Patch status - electronics module battery, attachable part wear time</a:t>
            </a:r>
            <a:endParaRPr lang="en-US" sz="1000" dirty="0"/>
          </a:p>
        </p:txBody>
      </p:sp>
      <p:sp>
        <p:nvSpPr>
          <p:cNvPr id="7" name="Text 5"/>
          <p:cNvSpPr txBox="1"/>
          <p:nvPr/>
        </p:nvSpPr>
        <p:spPr>
          <a:xfrm>
            <a:off x="6263640" y="1280160"/>
            <a:ext cx="5440680" cy="502920"/>
          </a:xfrm>
          <a:prstGeom prst="rect">
            <a:avLst/>
          </a:prstGeom>
          <a:noFill/>
          <a:ln/>
        </p:spPr>
        <p:txBody>
          <a:bodyPr wrap="square" lIns="0" tIns="0" rIns="0" bIns="0" rtlCol="0" anchor="ctr"/>
          <a:lstStyle/>
          <a:p>
            <a:pPr indent="0" marL="0">
              <a:lnSpc>
                <a:spcPct val="105000"/>
              </a:lnSpc>
              <a:buNone/>
            </a:pPr>
            <a:r>
              <a:rPr lang="en-US" sz="1300" b="1" dirty="0">
                <a:solidFill>
                  <a:srgbClr val="028090"/>
                </a:solidFill>
                <a:latin typeface="Calibri" pitchFamily="34" charset="0"/>
                <a:ea typeface="Calibri" pitchFamily="34" charset="-122"/>
                <a:cs typeface="Calibri" pitchFamily="34" charset="-120"/>
              </a:rPr>
              <a:t>How It Works: The Adaptive Comfort Engine</a:t>
            </a:r>
            <a:endParaRPr lang="en-US" sz="1300" dirty="0"/>
          </a:p>
        </p:txBody>
      </p:sp>
      <p:sp>
        <p:nvSpPr>
          <p:cNvPr id="8" name="Shape 6"/>
          <p:cNvSpPr/>
          <p:nvPr/>
        </p:nvSpPr>
        <p:spPr>
          <a:xfrm>
            <a:off x="6263640" y="1874520"/>
            <a:ext cx="5440680" cy="713232"/>
          </a:xfrm>
          <a:prstGeom prst="rect">
            <a:avLst/>
          </a:prstGeom>
          <a:solidFill>
            <a:srgbClr val="E4F5F3"/>
          </a:solidFill>
          <a:ln w="12700">
            <a:solidFill>
              <a:srgbClr val="CFE3E1"/>
            </a:solidFill>
            <a:prstDash val="solid"/>
          </a:ln>
        </p:spPr>
      </p:sp>
      <p:sp>
        <p:nvSpPr>
          <p:cNvPr id="9" name="Shape 7"/>
          <p:cNvSpPr/>
          <p:nvPr/>
        </p:nvSpPr>
        <p:spPr>
          <a:xfrm>
            <a:off x="6400800" y="2029968"/>
            <a:ext cx="274320" cy="274320"/>
          </a:xfrm>
          <a:prstGeom prst="ellipse">
            <a:avLst/>
          </a:prstGeom>
          <a:solidFill>
            <a:srgbClr val="028090"/>
          </a:solidFill>
          <a:ln/>
        </p:spPr>
      </p:sp>
      <p:sp>
        <p:nvSpPr>
          <p:cNvPr id="10" name="Text 8"/>
          <p:cNvSpPr txBox="1"/>
          <p:nvPr/>
        </p:nvSpPr>
        <p:spPr>
          <a:xfrm>
            <a:off x="6400800" y="20299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6812280" y="1947672"/>
            <a:ext cx="4709160" cy="256032"/>
          </a:xfrm>
          <a:prstGeom prst="rect">
            <a:avLst/>
          </a:prstGeom>
          <a:noFill/>
          <a:ln/>
        </p:spPr>
        <p:txBody>
          <a:bodyPr wrap="square" lIns="0" tIns="0" rIns="0" bIns="0" rtlCol="0" anchor="ctr"/>
          <a:lstStyle/>
          <a:p>
            <a:pPr indent="0" marL="0">
              <a:buNone/>
            </a:pPr>
            <a:r>
              <a:rPr lang="en-US" sz="1050" b="1" dirty="0">
                <a:solidFill>
                  <a:srgbClr val="073B4C"/>
                </a:solidFill>
                <a:latin typeface="Calibri" pitchFamily="34" charset="0"/>
                <a:ea typeface="Calibri" pitchFamily="34" charset="-122"/>
                <a:cs typeface="Calibri" pitchFamily="34" charset="-120"/>
              </a:rPr>
              <a:t>Pair &amp; log</a:t>
            </a:r>
            <a:endParaRPr lang="en-US" sz="1050" dirty="0"/>
          </a:p>
        </p:txBody>
      </p:sp>
      <p:sp>
        <p:nvSpPr>
          <p:cNvPr id="12" name="Text 10"/>
          <p:cNvSpPr txBox="1"/>
          <p:nvPr/>
        </p:nvSpPr>
        <p:spPr>
          <a:xfrm>
            <a:off x="6812280" y="2203704"/>
            <a:ext cx="4709160" cy="365760"/>
          </a:xfrm>
          <a:prstGeom prst="rect">
            <a:avLst/>
          </a:prstGeom>
          <a:noFill/>
          <a:ln/>
        </p:spPr>
        <p:txBody>
          <a:bodyPr wrap="square" lIns="0" tIns="0" rIns="0" bIns="0" rtlCol="0" anchor="ctr"/>
          <a:lstStyle/>
          <a:p>
            <a:pPr indent="0" marL="0">
              <a:lnSpc>
                <a:spcPct val="105000"/>
              </a:lnSpc>
              <a:buNone/>
            </a:pPr>
            <a:r>
              <a:rPr lang="en-US" sz="850" dirty="0">
                <a:solidFill>
                  <a:srgbClr val="073B4C"/>
                </a:solidFill>
                <a:latin typeface="Calibri" pitchFamily="34" charset="0"/>
                <a:ea typeface="Calibri" pitchFamily="34" charset="-122"/>
                <a:cs typeface="Calibri" pitchFamily="34" charset="-120"/>
              </a:rPr>
              <a:t>Patient pairs the electronics module once, and logs period dates in the Period Log.</a:t>
            </a:r>
            <a:endParaRPr lang="en-US" sz="850" dirty="0"/>
          </a:p>
        </p:txBody>
      </p:sp>
      <p:sp>
        <p:nvSpPr>
          <p:cNvPr id="13" name="Shape 11"/>
          <p:cNvSpPr/>
          <p:nvPr/>
        </p:nvSpPr>
        <p:spPr>
          <a:xfrm>
            <a:off x="6263640" y="2642616"/>
            <a:ext cx="5440680" cy="713232"/>
          </a:xfrm>
          <a:prstGeom prst="rect">
            <a:avLst/>
          </a:prstGeom>
          <a:solidFill>
            <a:srgbClr val="F4FAF9"/>
          </a:solidFill>
          <a:ln w="12700">
            <a:solidFill>
              <a:srgbClr val="CFE3E1"/>
            </a:solidFill>
            <a:prstDash val="solid"/>
          </a:ln>
        </p:spPr>
      </p:sp>
      <p:sp>
        <p:nvSpPr>
          <p:cNvPr id="14" name="Shape 12"/>
          <p:cNvSpPr/>
          <p:nvPr/>
        </p:nvSpPr>
        <p:spPr>
          <a:xfrm>
            <a:off x="6400800" y="2798064"/>
            <a:ext cx="274320" cy="274320"/>
          </a:xfrm>
          <a:prstGeom prst="ellipse">
            <a:avLst/>
          </a:prstGeom>
          <a:solidFill>
            <a:srgbClr val="028090"/>
          </a:solidFill>
          <a:ln/>
        </p:spPr>
      </p:sp>
      <p:sp>
        <p:nvSpPr>
          <p:cNvPr id="15" name="Text 13"/>
          <p:cNvSpPr txBox="1"/>
          <p:nvPr/>
        </p:nvSpPr>
        <p:spPr>
          <a:xfrm>
            <a:off x="6400800" y="27980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6812280" y="2715768"/>
            <a:ext cx="4709160" cy="256032"/>
          </a:xfrm>
          <a:prstGeom prst="rect">
            <a:avLst/>
          </a:prstGeom>
          <a:noFill/>
          <a:ln/>
        </p:spPr>
        <p:txBody>
          <a:bodyPr wrap="square" lIns="0" tIns="0" rIns="0" bIns="0" rtlCol="0" anchor="ctr"/>
          <a:lstStyle/>
          <a:p>
            <a:pPr indent="0" marL="0">
              <a:buNone/>
            </a:pPr>
            <a:r>
              <a:rPr lang="en-US" sz="1050" b="1" dirty="0">
                <a:solidFill>
                  <a:srgbClr val="073B4C"/>
                </a:solidFill>
                <a:latin typeface="Calibri" pitchFamily="34" charset="0"/>
                <a:ea typeface="Calibri" pitchFamily="34" charset="-122"/>
                <a:cs typeface="Calibri" pitchFamily="34" charset="-120"/>
              </a:rPr>
              <a:t>Wear &amp; sense</a:t>
            </a:r>
            <a:endParaRPr lang="en-US" sz="1050" dirty="0"/>
          </a:p>
        </p:txBody>
      </p:sp>
      <p:sp>
        <p:nvSpPr>
          <p:cNvPr id="17" name="Text 15"/>
          <p:cNvSpPr txBox="1"/>
          <p:nvPr/>
        </p:nvSpPr>
        <p:spPr>
          <a:xfrm>
            <a:off x="6812280" y="2971800"/>
            <a:ext cx="4709160" cy="365760"/>
          </a:xfrm>
          <a:prstGeom prst="rect">
            <a:avLst/>
          </a:prstGeom>
          <a:noFill/>
          <a:ln/>
        </p:spPr>
        <p:txBody>
          <a:bodyPr wrap="square" lIns="0" tIns="0" rIns="0" bIns="0" rtlCol="0" anchor="ctr"/>
          <a:lstStyle/>
          <a:p>
            <a:pPr indent="0" marL="0">
              <a:lnSpc>
                <a:spcPct val="105000"/>
              </a:lnSpc>
              <a:buNone/>
            </a:pPr>
            <a:r>
              <a:rPr lang="en-US" sz="850" dirty="0">
                <a:solidFill>
                  <a:srgbClr val="073B4C"/>
                </a:solidFill>
                <a:latin typeface="Calibri" pitchFamily="34" charset="0"/>
                <a:ea typeface="Calibri" pitchFamily="34" charset="-122"/>
                <a:cs typeface="Calibri" pitchFamily="34" charset="-120"/>
              </a:rPr>
              <a:t>EMG, GSR, and strain stream continuously while the attachable part is worn.</a:t>
            </a:r>
            <a:endParaRPr lang="en-US" sz="850" dirty="0"/>
          </a:p>
        </p:txBody>
      </p:sp>
      <p:sp>
        <p:nvSpPr>
          <p:cNvPr id="18" name="Shape 16"/>
          <p:cNvSpPr/>
          <p:nvPr/>
        </p:nvSpPr>
        <p:spPr>
          <a:xfrm>
            <a:off x="6263640" y="3410712"/>
            <a:ext cx="5440680" cy="713232"/>
          </a:xfrm>
          <a:prstGeom prst="rect">
            <a:avLst/>
          </a:prstGeom>
          <a:solidFill>
            <a:srgbClr val="E4F5F3"/>
          </a:solidFill>
          <a:ln w="12700">
            <a:solidFill>
              <a:srgbClr val="CFE3E1"/>
            </a:solidFill>
            <a:prstDash val="solid"/>
          </a:ln>
        </p:spPr>
      </p:sp>
      <p:sp>
        <p:nvSpPr>
          <p:cNvPr id="19" name="Shape 17"/>
          <p:cNvSpPr/>
          <p:nvPr/>
        </p:nvSpPr>
        <p:spPr>
          <a:xfrm>
            <a:off x="6400800" y="3566160"/>
            <a:ext cx="274320" cy="274320"/>
          </a:xfrm>
          <a:prstGeom prst="ellipse">
            <a:avLst/>
          </a:prstGeom>
          <a:solidFill>
            <a:srgbClr val="028090"/>
          </a:solidFill>
          <a:ln/>
        </p:spPr>
      </p:sp>
      <p:sp>
        <p:nvSpPr>
          <p:cNvPr id="20" name="Text 18"/>
          <p:cNvSpPr txBox="1"/>
          <p:nvPr/>
        </p:nvSpPr>
        <p:spPr>
          <a:xfrm>
            <a:off x="6400800" y="35661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txBox="1"/>
          <p:nvPr/>
        </p:nvSpPr>
        <p:spPr>
          <a:xfrm>
            <a:off x="6812280" y="3483864"/>
            <a:ext cx="4709160" cy="256032"/>
          </a:xfrm>
          <a:prstGeom prst="rect">
            <a:avLst/>
          </a:prstGeom>
          <a:noFill/>
          <a:ln/>
        </p:spPr>
        <p:txBody>
          <a:bodyPr wrap="square" lIns="0" tIns="0" rIns="0" bIns="0" rtlCol="0" anchor="ctr"/>
          <a:lstStyle/>
          <a:p>
            <a:pPr indent="0" marL="0">
              <a:buNone/>
            </a:pPr>
            <a:r>
              <a:rPr lang="en-US" sz="1050" b="1" dirty="0">
                <a:solidFill>
                  <a:srgbClr val="073B4C"/>
                </a:solidFill>
                <a:latin typeface="Calibri" pitchFamily="34" charset="0"/>
                <a:ea typeface="Calibri" pitchFamily="34" charset="-122"/>
                <a:cs typeface="Calibri" pitchFamily="34" charset="-120"/>
              </a:rPr>
              <a:t>Comfort Check</a:t>
            </a:r>
            <a:endParaRPr lang="en-US" sz="1050" dirty="0"/>
          </a:p>
        </p:txBody>
      </p:sp>
      <p:sp>
        <p:nvSpPr>
          <p:cNvPr id="22" name="Text 20"/>
          <p:cNvSpPr txBox="1"/>
          <p:nvPr/>
        </p:nvSpPr>
        <p:spPr>
          <a:xfrm>
            <a:off x="6812280" y="3739896"/>
            <a:ext cx="4709160" cy="365760"/>
          </a:xfrm>
          <a:prstGeom prst="rect">
            <a:avLst/>
          </a:prstGeom>
          <a:noFill/>
          <a:ln/>
        </p:spPr>
        <p:txBody>
          <a:bodyPr wrap="square" lIns="0" tIns="0" rIns="0" bIns="0" rtlCol="0" anchor="ctr"/>
          <a:lstStyle/>
          <a:p>
            <a:pPr indent="0" marL="0">
              <a:lnSpc>
                <a:spcPct val="105000"/>
              </a:lnSpc>
              <a:buNone/>
            </a:pPr>
            <a:r>
              <a:rPr lang="en-US" sz="850" dirty="0">
                <a:solidFill>
                  <a:srgbClr val="073B4C"/>
                </a:solidFill>
                <a:latin typeface="Calibri" pitchFamily="34" charset="0"/>
                <a:ea typeface="Calibri" pitchFamily="34" charset="-122"/>
                <a:cs typeface="Calibri" pitchFamily="34" charset="-120"/>
              </a:rPr>
              <a:t>A one-tap prompt asks how the current moment feels: Easy, Manageable, Hard, or Severe.</a:t>
            </a:r>
            <a:endParaRPr lang="en-US" sz="850" dirty="0"/>
          </a:p>
        </p:txBody>
      </p:sp>
      <p:sp>
        <p:nvSpPr>
          <p:cNvPr id="23" name="Shape 21"/>
          <p:cNvSpPr/>
          <p:nvPr/>
        </p:nvSpPr>
        <p:spPr>
          <a:xfrm>
            <a:off x="6263640" y="4178808"/>
            <a:ext cx="5440680" cy="713232"/>
          </a:xfrm>
          <a:prstGeom prst="rect">
            <a:avLst/>
          </a:prstGeom>
          <a:solidFill>
            <a:srgbClr val="F4FAF9"/>
          </a:solidFill>
          <a:ln w="12700">
            <a:solidFill>
              <a:srgbClr val="CFE3E1"/>
            </a:solidFill>
            <a:prstDash val="solid"/>
          </a:ln>
        </p:spPr>
      </p:sp>
      <p:sp>
        <p:nvSpPr>
          <p:cNvPr id="24" name="Shape 22"/>
          <p:cNvSpPr/>
          <p:nvPr/>
        </p:nvSpPr>
        <p:spPr>
          <a:xfrm>
            <a:off x="6400800" y="4334256"/>
            <a:ext cx="274320" cy="274320"/>
          </a:xfrm>
          <a:prstGeom prst="ellipse">
            <a:avLst/>
          </a:prstGeom>
          <a:solidFill>
            <a:srgbClr val="028090"/>
          </a:solidFill>
          <a:ln/>
        </p:spPr>
      </p:sp>
      <p:sp>
        <p:nvSpPr>
          <p:cNvPr id="25" name="Text 23"/>
          <p:cNvSpPr txBox="1"/>
          <p:nvPr/>
        </p:nvSpPr>
        <p:spPr>
          <a:xfrm>
            <a:off x="6400800" y="43342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6812280" y="4251960"/>
            <a:ext cx="4709160" cy="256032"/>
          </a:xfrm>
          <a:prstGeom prst="rect">
            <a:avLst/>
          </a:prstGeom>
          <a:noFill/>
          <a:ln/>
        </p:spPr>
        <p:txBody>
          <a:bodyPr wrap="square" lIns="0" tIns="0" rIns="0" bIns="0" rtlCol="0" anchor="ctr"/>
          <a:lstStyle/>
          <a:p>
            <a:pPr indent="0" marL="0">
              <a:buNone/>
            </a:pPr>
            <a:r>
              <a:rPr lang="en-US" sz="1050" b="1" dirty="0">
                <a:solidFill>
                  <a:srgbClr val="073B4C"/>
                </a:solidFill>
                <a:latin typeface="Calibri" pitchFamily="34" charset="0"/>
                <a:ea typeface="Calibri" pitchFamily="34" charset="-122"/>
                <a:cs typeface="Calibri" pitchFamily="34" charset="-120"/>
              </a:rPr>
              <a:t>Threshold learns</a:t>
            </a:r>
            <a:endParaRPr lang="en-US" sz="1050" dirty="0"/>
          </a:p>
        </p:txBody>
      </p:sp>
      <p:sp>
        <p:nvSpPr>
          <p:cNvPr id="27" name="Text 25"/>
          <p:cNvSpPr txBox="1"/>
          <p:nvPr/>
        </p:nvSpPr>
        <p:spPr>
          <a:xfrm>
            <a:off x="6812280" y="4507992"/>
            <a:ext cx="4709160" cy="365760"/>
          </a:xfrm>
          <a:prstGeom prst="rect">
            <a:avLst/>
          </a:prstGeom>
          <a:noFill/>
          <a:ln/>
        </p:spPr>
        <p:txBody>
          <a:bodyPr wrap="square" lIns="0" tIns="0" rIns="0" bIns="0" rtlCol="0" anchor="ctr"/>
          <a:lstStyle/>
          <a:p>
            <a:pPr indent="0" marL="0">
              <a:lnSpc>
                <a:spcPct val="105000"/>
              </a:lnSpc>
              <a:buNone/>
            </a:pPr>
            <a:r>
              <a:rPr lang="en-US" sz="850" dirty="0">
                <a:solidFill>
                  <a:srgbClr val="073B4C"/>
                </a:solidFill>
                <a:latin typeface="Calibri" pitchFamily="34" charset="0"/>
                <a:ea typeface="Calibri" pitchFamily="34" charset="-122"/>
                <a:cs typeface="Calibri" pitchFamily="34" charset="-120"/>
              </a:rPr>
              <a:t>Each tap recalibrates the user's own heat-trigger threshold - not a fixed, one-size rule.</a:t>
            </a:r>
            <a:endParaRPr lang="en-US" sz="850" dirty="0"/>
          </a:p>
        </p:txBody>
      </p:sp>
      <p:sp>
        <p:nvSpPr>
          <p:cNvPr id="28" name="Shape 26"/>
          <p:cNvSpPr/>
          <p:nvPr/>
        </p:nvSpPr>
        <p:spPr>
          <a:xfrm>
            <a:off x="6263640" y="4946904"/>
            <a:ext cx="5440680" cy="713232"/>
          </a:xfrm>
          <a:prstGeom prst="rect">
            <a:avLst/>
          </a:prstGeom>
          <a:solidFill>
            <a:srgbClr val="E4F5F3"/>
          </a:solidFill>
          <a:ln w="12700">
            <a:solidFill>
              <a:srgbClr val="CFE3E1"/>
            </a:solidFill>
            <a:prstDash val="solid"/>
          </a:ln>
        </p:spPr>
      </p:sp>
      <p:sp>
        <p:nvSpPr>
          <p:cNvPr id="29" name="Shape 27"/>
          <p:cNvSpPr/>
          <p:nvPr/>
        </p:nvSpPr>
        <p:spPr>
          <a:xfrm>
            <a:off x="6400800" y="5102352"/>
            <a:ext cx="274320" cy="274320"/>
          </a:xfrm>
          <a:prstGeom prst="ellipse">
            <a:avLst/>
          </a:prstGeom>
          <a:solidFill>
            <a:srgbClr val="028090"/>
          </a:solidFill>
          <a:ln/>
        </p:spPr>
      </p:sp>
      <p:sp>
        <p:nvSpPr>
          <p:cNvPr id="30" name="Text 28"/>
          <p:cNvSpPr txBox="1"/>
          <p:nvPr/>
        </p:nvSpPr>
        <p:spPr>
          <a:xfrm>
            <a:off x="6400800" y="51023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txBox="1"/>
          <p:nvPr/>
        </p:nvSpPr>
        <p:spPr>
          <a:xfrm>
            <a:off x="6812280" y="5020056"/>
            <a:ext cx="4709160" cy="256032"/>
          </a:xfrm>
          <a:prstGeom prst="rect">
            <a:avLst/>
          </a:prstGeom>
          <a:noFill/>
          <a:ln/>
        </p:spPr>
        <p:txBody>
          <a:bodyPr wrap="square" lIns="0" tIns="0" rIns="0" bIns="0" rtlCol="0" anchor="ctr"/>
          <a:lstStyle/>
          <a:p>
            <a:pPr indent="0" marL="0">
              <a:buNone/>
            </a:pPr>
            <a:r>
              <a:rPr lang="en-US" sz="1050" b="1" dirty="0">
                <a:solidFill>
                  <a:srgbClr val="073B4C"/>
                </a:solidFill>
                <a:latin typeface="Calibri" pitchFamily="34" charset="0"/>
                <a:ea typeface="Calibri" pitchFamily="34" charset="-122"/>
                <a:cs typeface="Calibri" pitchFamily="34" charset="-120"/>
              </a:rPr>
              <a:t>Respond triggers</a:t>
            </a:r>
            <a:endParaRPr lang="en-US" sz="1050" dirty="0"/>
          </a:p>
        </p:txBody>
      </p:sp>
      <p:sp>
        <p:nvSpPr>
          <p:cNvPr id="32" name="Text 30"/>
          <p:cNvSpPr txBox="1"/>
          <p:nvPr/>
        </p:nvSpPr>
        <p:spPr>
          <a:xfrm>
            <a:off x="6812280" y="5276088"/>
            <a:ext cx="4709160" cy="365760"/>
          </a:xfrm>
          <a:prstGeom prst="rect">
            <a:avLst/>
          </a:prstGeom>
          <a:noFill/>
          <a:ln/>
        </p:spPr>
        <p:txBody>
          <a:bodyPr wrap="square" lIns="0" tIns="0" rIns="0" bIns="0" rtlCol="0" anchor="ctr"/>
          <a:lstStyle/>
          <a:p>
            <a:pPr indent="0" marL="0">
              <a:lnSpc>
                <a:spcPct val="105000"/>
              </a:lnSpc>
              <a:buNone/>
            </a:pPr>
            <a:r>
              <a:rPr lang="en-US" sz="850" dirty="0">
                <a:solidFill>
                  <a:srgbClr val="073B4C"/>
                </a:solidFill>
                <a:latin typeface="Calibri" pitchFamily="34" charset="0"/>
                <a:ea typeface="Calibri" pitchFamily="34" charset="-122"/>
                <a:cs typeface="Calibri" pitchFamily="34" charset="-120"/>
              </a:rPr>
              <a:t>Heat activates automatically at the personalized threshold, or the patient triggers it manually.</a:t>
            </a:r>
            <a:endParaRPr lang="en-US" sz="850" dirty="0"/>
          </a:p>
        </p:txBody>
      </p:sp>
      <p:sp>
        <p:nvSpPr>
          <p:cNvPr id="33" name="Shape 31"/>
          <p:cNvSpPr/>
          <p:nvPr/>
        </p:nvSpPr>
        <p:spPr>
          <a:xfrm>
            <a:off x="6263640" y="5715000"/>
            <a:ext cx="5440680" cy="713232"/>
          </a:xfrm>
          <a:prstGeom prst="rect">
            <a:avLst/>
          </a:prstGeom>
          <a:solidFill>
            <a:srgbClr val="F4FAF9"/>
          </a:solidFill>
          <a:ln w="12700">
            <a:solidFill>
              <a:srgbClr val="CFE3E1"/>
            </a:solidFill>
            <a:prstDash val="solid"/>
          </a:ln>
        </p:spPr>
      </p:sp>
      <p:sp>
        <p:nvSpPr>
          <p:cNvPr id="34" name="Shape 32"/>
          <p:cNvSpPr/>
          <p:nvPr/>
        </p:nvSpPr>
        <p:spPr>
          <a:xfrm>
            <a:off x="6400800" y="5870448"/>
            <a:ext cx="274320" cy="274320"/>
          </a:xfrm>
          <a:prstGeom prst="ellipse">
            <a:avLst/>
          </a:prstGeom>
          <a:solidFill>
            <a:srgbClr val="028090"/>
          </a:solidFill>
          <a:ln/>
        </p:spPr>
      </p:sp>
      <p:sp>
        <p:nvSpPr>
          <p:cNvPr id="35" name="Text 33"/>
          <p:cNvSpPr txBox="1"/>
          <p:nvPr/>
        </p:nvSpPr>
        <p:spPr>
          <a:xfrm>
            <a:off x="6400800" y="587044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4"/>
          <p:cNvSpPr txBox="1"/>
          <p:nvPr/>
        </p:nvSpPr>
        <p:spPr>
          <a:xfrm>
            <a:off x="6812280" y="5788152"/>
            <a:ext cx="4709160" cy="256032"/>
          </a:xfrm>
          <a:prstGeom prst="rect">
            <a:avLst/>
          </a:prstGeom>
          <a:noFill/>
          <a:ln/>
        </p:spPr>
        <p:txBody>
          <a:bodyPr wrap="square" lIns="0" tIns="0" rIns="0" bIns="0" rtlCol="0" anchor="ctr"/>
          <a:lstStyle/>
          <a:p>
            <a:pPr indent="0" marL="0">
              <a:buNone/>
            </a:pPr>
            <a:r>
              <a:rPr lang="en-US" sz="1050" b="1" dirty="0">
                <a:solidFill>
                  <a:srgbClr val="073B4C"/>
                </a:solidFill>
                <a:latin typeface="Calibri" pitchFamily="34" charset="0"/>
                <a:ea typeface="Calibri" pitchFamily="34" charset="-122"/>
                <a:cs typeface="Calibri" pitchFamily="34" charset="-120"/>
              </a:rPr>
              <a:t>Forecast improves</a:t>
            </a:r>
            <a:endParaRPr lang="en-US" sz="1050" dirty="0"/>
          </a:p>
        </p:txBody>
      </p:sp>
      <p:sp>
        <p:nvSpPr>
          <p:cNvPr id="37" name="Text 35"/>
          <p:cNvSpPr txBox="1"/>
          <p:nvPr/>
        </p:nvSpPr>
        <p:spPr>
          <a:xfrm>
            <a:off x="6812280" y="6044184"/>
            <a:ext cx="4709160" cy="365760"/>
          </a:xfrm>
          <a:prstGeom prst="rect">
            <a:avLst/>
          </a:prstGeom>
          <a:noFill/>
          <a:ln/>
        </p:spPr>
        <p:txBody>
          <a:bodyPr wrap="square" lIns="0" tIns="0" rIns="0" bIns="0" rtlCol="0" anchor="ctr"/>
          <a:lstStyle/>
          <a:p>
            <a:pPr indent="0" marL="0">
              <a:lnSpc>
                <a:spcPct val="105000"/>
              </a:lnSpc>
              <a:buNone/>
            </a:pPr>
            <a:r>
              <a:rPr lang="en-US" sz="850" dirty="0">
                <a:solidFill>
                  <a:srgbClr val="073B4C"/>
                </a:solidFill>
                <a:latin typeface="Calibri" pitchFamily="34" charset="0"/>
                <a:ea typeface="Calibri" pitchFamily="34" charset="-122"/>
                <a:cs typeface="Calibri" pitchFamily="34" charset="-120"/>
              </a:rPr>
              <a:t>Over time, the app proactively suggests heat before tension peaks, based on the user's own pattern.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789920" cy="457200"/>
          </a:xfrm>
          <a:prstGeom prst="rect">
            <a:avLst/>
          </a:prstGeom>
          <a:noFill/>
          <a:ln/>
        </p:spPr>
        <p:txBody>
          <a:bodyPr wrap="square" lIns="0" tIns="0" rIns="0" bIns="0" rtlCol="0" anchor="ctr"/>
          <a:lstStyle/>
          <a:p>
            <a:pPr indent="0" marL="0">
              <a:buNone/>
            </a:pPr>
            <a:r>
              <a:rPr lang="en-US" sz="2500" b="1" dirty="0">
                <a:solidFill>
                  <a:srgbClr val="073B4C"/>
                </a:solidFill>
                <a:latin typeface="Cambria" pitchFamily="34" charset="0"/>
                <a:ea typeface="Cambria" pitchFamily="34" charset="-122"/>
                <a:cs typeface="Cambria" pitchFamily="34" charset="-120"/>
              </a:rPr>
              <a:t>Business Case: Costing, Customers &amp; Economics</a:t>
            </a:r>
            <a:endParaRPr lang="en-US" sz="2500" dirty="0"/>
          </a:p>
        </p:txBody>
      </p:sp>
      <p:sp>
        <p:nvSpPr>
          <p:cNvPr id="3" name="Text 1"/>
          <p:cNvSpPr txBox="1"/>
          <p:nvPr/>
        </p:nvSpPr>
        <p:spPr>
          <a:xfrm>
            <a:off x="457200" y="777240"/>
            <a:ext cx="10972800" cy="365760"/>
          </a:xfrm>
          <a:prstGeom prst="rect">
            <a:avLst/>
          </a:prstGeom>
          <a:noFill/>
          <a:ln/>
        </p:spPr>
        <p:txBody>
          <a:bodyPr wrap="square" lIns="0" tIns="0" rIns="0" bIns="0" rtlCol="0" anchor="ctr"/>
          <a:lstStyle/>
          <a:p>
            <a:pPr indent="0" marL="0">
              <a:buNone/>
            </a:pPr>
            <a:r>
              <a:rPr lang="en-US" sz="1300" dirty="0">
                <a:solidFill>
                  <a:srgbClr val="5C7A78"/>
                </a:solidFill>
                <a:latin typeface="Calibri" pitchFamily="34" charset="0"/>
                <a:ea typeface="Calibri" pitchFamily="34" charset="-122"/>
                <a:cs typeface="Calibri" pitchFamily="34" charset="-120"/>
              </a:rPr>
              <a:t>Two-part hardware keeps recurring cost low - a razor-and-blades model</a:t>
            </a:r>
            <a:endParaRPr lang="en-US" sz="1300" dirty="0"/>
          </a:p>
        </p:txBody>
      </p:sp>
      <p:sp>
        <p:nvSpPr>
          <p:cNvPr id="4" name="Shape 2"/>
          <p:cNvSpPr/>
          <p:nvPr/>
        </p:nvSpPr>
        <p:spPr>
          <a:xfrm>
            <a:off x="457200" y="1280160"/>
            <a:ext cx="5577840" cy="1965960"/>
          </a:xfrm>
          <a:prstGeom prst="rect">
            <a:avLst/>
          </a:prstGeom>
          <a:solidFill>
            <a:srgbClr val="E4F5F3"/>
          </a:solidFill>
          <a:ln w="19050">
            <a:solidFill>
              <a:srgbClr val="028090"/>
            </a:solidFill>
            <a:prstDash val="solid"/>
          </a:ln>
        </p:spPr>
      </p:sp>
      <p:sp>
        <p:nvSpPr>
          <p:cNvPr id="5" name="Text 3"/>
          <p:cNvSpPr txBox="1"/>
          <p:nvPr/>
        </p:nvSpPr>
        <p:spPr>
          <a:xfrm>
            <a:off x="640080" y="1389888"/>
            <a:ext cx="5212080" cy="274320"/>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Unit Cost (Illustrative)</a:t>
            </a:r>
            <a:endParaRPr lang="en-US" sz="1250" dirty="0"/>
          </a:p>
        </p:txBody>
      </p:sp>
      <p:sp>
        <p:nvSpPr>
          <p:cNvPr id="6" name="Text 4"/>
          <p:cNvSpPr txBox="1"/>
          <p:nvPr/>
        </p:nvSpPr>
        <p:spPr>
          <a:xfrm>
            <a:off x="640080" y="1737360"/>
            <a:ext cx="5212080" cy="141732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Electronics module: IC + BLE + rechargeable battery + connector - EUR 8-14, one-time</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Attachable part: printed electrodes + heater + adhesive + substrate - EUR 2-3.50, recurring</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Recurring cost drops ~80-85% versus a single-piece, weekly-disposed design</a:t>
            </a:r>
            <a:endParaRPr lang="en-US" sz="950" dirty="0"/>
          </a:p>
        </p:txBody>
      </p:sp>
      <p:sp>
        <p:nvSpPr>
          <p:cNvPr id="7" name="Shape 5"/>
          <p:cNvSpPr/>
          <p:nvPr/>
        </p:nvSpPr>
        <p:spPr>
          <a:xfrm>
            <a:off x="6126480" y="1280160"/>
            <a:ext cx="5577840" cy="1965960"/>
          </a:xfrm>
          <a:prstGeom prst="rect">
            <a:avLst/>
          </a:prstGeom>
          <a:solidFill>
            <a:srgbClr val="F4FAF9"/>
          </a:solidFill>
          <a:ln w="12700">
            <a:solidFill>
              <a:srgbClr val="CFE3E1"/>
            </a:solidFill>
            <a:prstDash val="solid"/>
          </a:ln>
        </p:spPr>
      </p:sp>
      <p:sp>
        <p:nvSpPr>
          <p:cNvPr id="8" name="Text 6"/>
          <p:cNvSpPr txBox="1"/>
          <p:nvPr/>
        </p:nvSpPr>
        <p:spPr>
          <a:xfrm>
            <a:off x="6309360" y="1389888"/>
            <a:ext cx="5212080" cy="274320"/>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Pricing &amp; Revenue Model</a:t>
            </a:r>
            <a:endParaRPr lang="en-US" sz="1250" dirty="0"/>
          </a:p>
        </p:txBody>
      </p:sp>
      <p:sp>
        <p:nvSpPr>
          <p:cNvPr id="9" name="Text 7"/>
          <p:cNvSpPr txBox="1"/>
          <p:nvPr/>
        </p:nvSpPr>
        <p:spPr>
          <a:xfrm>
            <a:off x="6309360" y="1737360"/>
            <a:ext cx="5212080" cy="141732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One-time electronics module purchase, priced with healthy margin (the razor)</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Recurring attachable-part refills, subscription or multi-pack (the blades)</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Direct-to-consumer, the channel already proven for this buyer</a:t>
            </a:r>
            <a:endParaRPr lang="en-US" sz="950" dirty="0"/>
          </a:p>
        </p:txBody>
      </p:sp>
      <p:sp>
        <p:nvSpPr>
          <p:cNvPr id="10" name="Shape 8"/>
          <p:cNvSpPr/>
          <p:nvPr/>
        </p:nvSpPr>
        <p:spPr>
          <a:xfrm>
            <a:off x="457200" y="3429000"/>
            <a:ext cx="5577840" cy="1965960"/>
          </a:xfrm>
          <a:prstGeom prst="rect">
            <a:avLst/>
          </a:prstGeom>
          <a:solidFill>
            <a:srgbClr val="F4FAF9"/>
          </a:solidFill>
          <a:ln w="12700">
            <a:solidFill>
              <a:srgbClr val="CFE3E1"/>
            </a:solidFill>
            <a:prstDash val="solid"/>
          </a:ln>
        </p:spPr>
      </p:sp>
      <p:sp>
        <p:nvSpPr>
          <p:cNvPr id="11" name="Text 9"/>
          <p:cNvSpPr txBox="1"/>
          <p:nvPr/>
        </p:nvSpPr>
        <p:spPr>
          <a:xfrm>
            <a:off x="640080" y="3538728"/>
            <a:ext cx="5212080" cy="274320"/>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Market Context</a:t>
            </a:r>
            <a:endParaRPr lang="en-US" sz="1250" dirty="0"/>
          </a:p>
        </p:txBody>
      </p:sp>
      <p:sp>
        <p:nvSpPr>
          <p:cNvPr id="12" name="Text 10"/>
          <p:cNvSpPr txBox="1"/>
          <p:nvPr/>
        </p:nvSpPr>
        <p:spPr>
          <a:xfrm>
            <a:off x="640080" y="3886200"/>
            <a:ext cx="5212080" cy="141732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Pelvic-floor device market: USD 892.4M in 2026, growing to USD 1.89B by 2035 (8.7% CAGR)</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Real, funded comparators: Elvie (EUR 149-199), Perifit (EUR 99-149), kGoal - all insertable</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FlexiCure reaches the same buyer with a non-insertable, different-muscle-group alternative</a:t>
            </a:r>
            <a:endParaRPr lang="en-US" sz="950" dirty="0"/>
          </a:p>
        </p:txBody>
      </p:sp>
      <p:sp>
        <p:nvSpPr>
          <p:cNvPr id="13" name="Shape 11"/>
          <p:cNvSpPr/>
          <p:nvPr/>
        </p:nvSpPr>
        <p:spPr>
          <a:xfrm>
            <a:off x="6126480" y="3429000"/>
            <a:ext cx="5577840" cy="1965960"/>
          </a:xfrm>
          <a:prstGeom prst="rect">
            <a:avLst/>
          </a:prstGeom>
          <a:solidFill>
            <a:srgbClr val="028090"/>
          </a:solidFill>
          <a:ln/>
        </p:spPr>
      </p:sp>
      <p:sp>
        <p:nvSpPr>
          <p:cNvPr id="14" name="Text 12"/>
          <p:cNvSpPr txBox="1"/>
          <p:nvPr/>
        </p:nvSpPr>
        <p:spPr>
          <a:xfrm>
            <a:off x="6309360" y="3566160"/>
            <a:ext cx="5212080" cy="274320"/>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Case Study: Illustrative Economics</a:t>
            </a:r>
            <a:endParaRPr lang="en-US" sz="1200" dirty="0"/>
          </a:p>
        </p:txBody>
      </p:sp>
      <p:sp>
        <p:nvSpPr>
          <p:cNvPr id="15" name="Text 13"/>
          <p:cNvSpPr txBox="1"/>
          <p:nvPr/>
        </p:nvSpPr>
        <p:spPr>
          <a:xfrm>
            <a:off x="6309360" y="3886200"/>
            <a:ext cx="5212080" cy="1371600"/>
          </a:xfrm>
          <a:prstGeom prst="rect">
            <a:avLst/>
          </a:prstGeom>
          <a:noFill/>
          <a:ln/>
        </p:spPr>
        <p:txBody>
          <a:bodyPr wrap="square" lIns="0" tIns="0" rIns="0" bIns="0" rtlCol="0" anchor="t"/>
          <a:lstStyle/>
          <a:p>
            <a:pPr indent="0" marL="0">
              <a:lnSpc>
                <a:spcPct val="115000"/>
              </a:lnSpc>
              <a:buNone/>
            </a:pPr>
            <a:r>
              <a:rPr lang="en-US" sz="950" i="1" dirty="0">
                <a:solidFill>
                  <a:srgbClr val="FFFFFF"/>
                </a:solidFill>
                <a:latin typeface="Calibri" pitchFamily="34" charset="0"/>
                <a:ea typeface="Calibri" pitchFamily="34" charset="-122"/>
                <a:cs typeface="Calibri" pitchFamily="34" charset="-120"/>
              </a:rPr>
              <a:t>1,000 electronics modules sold in year one, each subscribing to attachable-part refills at ~EUR 15/month, represents roughly EUR 180,000 in annual recurring revenue from refills alone, on top of one-time module sales - a realistic first proof point, not a market-wide projection.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789920" cy="457200"/>
          </a:xfrm>
          <a:prstGeom prst="rect">
            <a:avLst/>
          </a:prstGeom>
          <a:noFill/>
          <a:ln/>
        </p:spPr>
        <p:txBody>
          <a:bodyPr wrap="square" lIns="0" tIns="0" rIns="0" bIns="0" rtlCol="0" anchor="ctr"/>
          <a:lstStyle/>
          <a:p>
            <a:pPr indent="0" marL="0">
              <a:buNone/>
            </a:pPr>
            <a:r>
              <a:rPr lang="en-US" sz="2500" b="1" dirty="0">
                <a:solidFill>
                  <a:srgbClr val="073B4C"/>
                </a:solidFill>
                <a:latin typeface="Cambria" pitchFamily="34" charset="0"/>
                <a:ea typeface="Cambria" pitchFamily="34" charset="-122"/>
                <a:cs typeface="Cambria" pitchFamily="34" charset="-120"/>
              </a:rPr>
              <a:t>Implementation Plan</a:t>
            </a:r>
            <a:endParaRPr lang="en-US" sz="2500" dirty="0"/>
          </a:p>
        </p:txBody>
      </p:sp>
      <p:sp>
        <p:nvSpPr>
          <p:cNvPr id="3" name="Text 1"/>
          <p:cNvSpPr txBox="1"/>
          <p:nvPr/>
        </p:nvSpPr>
        <p:spPr>
          <a:xfrm>
            <a:off x="457200" y="777240"/>
            <a:ext cx="10972800" cy="365760"/>
          </a:xfrm>
          <a:prstGeom prst="rect">
            <a:avLst/>
          </a:prstGeom>
          <a:noFill/>
          <a:ln/>
        </p:spPr>
        <p:txBody>
          <a:bodyPr wrap="square" lIns="0" tIns="0" rIns="0" bIns="0" rtlCol="0" anchor="ctr"/>
          <a:lstStyle/>
          <a:p>
            <a:pPr indent="0" marL="0">
              <a:buNone/>
            </a:pPr>
            <a:r>
              <a:rPr lang="en-US" sz="1300" dirty="0">
                <a:solidFill>
                  <a:srgbClr val="5C7A78"/>
                </a:solidFill>
                <a:latin typeface="Calibri" pitchFamily="34" charset="0"/>
                <a:ea typeface="Calibri" pitchFamily="34" charset="-122"/>
                <a:cs typeface="Calibri" pitchFamily="34" charset="-120"/>
              </a:rPr>
              <a:t>From design to a working prototype of both hardware parts</a:t>
            </a:r>
            <a:endParaRPr lang="en-US" sz="1300" dirty="0"/>
          </a:p>
        </p:txBody>
      </p:sp>
      <p:sp>
        <p:nvSpPr>
          <p:cNvPr id="4" name="Shape 2"/>
          <p:cNvSpPr/>
          <p:nvPr/>
        </p:nvSpPr>
        <p:spPr>
          <a:xfrm>
            <a:off x="457200" y="2286000"/>
            <a:ext cx="1783080" cy="1005840"/>
          </a:xfrm>
          <a:prstGeom prst="roundRect">
            <a:avLst>
              <a:gd name="adj" fmla="val 7273"/>
            </a:avLst>
          </a:prstGeom>
          <a:solidFill>
            <a:srgbClr val="E4F5F3"/>
          </a:solidFill>
          <a:ln w="12700">
            <a:solidFill>
              <a:srgbClr val="028090"/>
            </a:solidFill>
            <a:prstDash val="solid"/>
          </a:ln>
        </p:spPr>
      </p:sp>
      <p:sp>
        <p:nvSpPr>
          <p:cNvPr id="5" name="Text 3"/>
          <p:cNvSpPr txBox="1"/>
          <p:nvPr/>
        </p:nvSpPr>
        <p:spPr>
          <a:xfrm>
            <a:off x="548640" y="2286000"/>
            <a:ext cx="1600200" cy="1005840"/>
          </a:xfrm>
          <a:prstGeom prst="rect">
            <a:avLst/>
          </a:prstGeom>
          <a:noFill/>
          <a:ln/>
        </p:spPr>
        <p:txBody>
          <a:bodyPr wrap="square" lIns="0" tIns="0" rIns="0" bIns="0" rtlCol="0" anchor="ctr"/>
          <a:lstStyle/>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Design &amp;</a:t>
            </a:r>
            <a:endParaRPr lang="en-US" sz="900" dirty="0"/>
          </a:p>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ink selection</a:t>
            </a:r>
            <a:endParaRPr lang="en-US" sz="900" dirty="0"/>
          </a:p>
        </p:txBody>
      </p:sp>
      <p:sp>
        <p:nvSpPr>
          <p:cNvPr id="6" name="Shape 4"/>
          <p:cNvSpPr/>
          <p:nvPr/>
        </p:nvSpPr>
        <p:spPr>
          <a:xfrm>
            <a:off x="1220724" y="1965960"/>
            <a:ext cx="256032" cy="256032"/>
          </a:xfrm>
          <a:prstGeom prst="ellipse">
            <a:avLst/>
          </a:prstGeom>
          <a:solidFill>
            <a:srgbClr val="028090"/>
          </a:solidFill>
          <a:ln/>
        </p:spPr>
      </p:sp>
      <p:sp>
        <p:nvSpPr>
          <p:cNvPr id="7" name="Text 5"/>
          <p:cNvSpPr txBox="1"/>
          <p:nvPr/>
        </p:nvSpPr>
        <p:spPr>
          <a:xfrm>
            <a:off x="1220724" y="196596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6"/>
          <p:cNvSpPr/>
          <p:nvPr/>
        </p:nvSpPr>
        <p:spPr>
          <a:xfrm>
            <a:off x="2240280" y="2788920"/>
            <a:ext cx="182880" cy="0"/>
          </a:xfrm>
          <a:prstGeom prst="line">
            <a:avLst/>
          </a:prstGeom>
          <a:noFill/>
          <a:ln w="25400">
            <a:solidFill>
              <a:srgbClr val="00A896"/>
            </a:solidFill>
            <a:prstDash val="solid"/>
            <a:tailEnd type="triangle"/>
          </a:ln>
        </p:spPr>
      </p:sp>
      <p:sp>
        <p:nvSpPr>
          <p:cNvPr id="9" name="Shape 7"/>
          <p:cNvSpPr/>
          <p:nvPr/>
        </p:nvSpPr>
        <p:spPr>
          <a:xfrm>
            <a:off x="2423160" y="2286000"/>
            <a:ext cx="1783080" cy="1005840"/>
          </a:xfrm>
          <a:prstGeom prst="roundRect">
            <a:avLst>
              <a:gd name="adj" fmla="val 7273"/>
            </a:avLst>
          </a:prstGeom>
          <a:solidFill>
            <a:srgbClr val="F4FAF9"/>
          </a:solidFill>
          <a:ln w="12700">
            <a:solidFill>
              <a:srgbClr val="028090"/>
            </a:solidFill>
            <a:prstDash val="solid"/>
          </a:ln>
        </p:spPr>
      </p:sp>
      <p:sp>
        <p:nvSpPr>
          <p:cNvPr id="10" name="Text 8"/>
          <p:cNvSpPr txBox="1"/>
          <p:nvPr/>
        </p:nvSpPr>
        <p:spPr>
          <a:xfrm>
            <a:off x="2514600" y="2286000"/>
            <a:ext cx="1600200" cy="1005840"/>
          </a:xfrm>
          <a:prstGeom prst="rect">
            <a:avLst/>
          </a:prstGeom>
          <a:noFill/>
          <a:ln/>
        </p:spPr>
        <p:txBody>
          <a:bodyPr wrap="square" lIns="0" tIns="0" rIns="0" bIns="0" rtlCol="0" anchor="ctr"/>
          <a:lstStyle/>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Print electrode</a:t>
            </a:r>
            <a:endParaRPr lang="en-US" sz="900" dirty="0"/>
          </a:p>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layers (R2R /</a:t>
            </a:r>
            <a:endParaRPr lang="en-US" sz="900" dirty="0"/>
          </a:p>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screen-print)</a:t>
            </a:r>
            <a:endParaRPr lang="en-US" sz="900" dirty="0"/>
          </a:p>
        </p:txBody>
      </p:sp>
      <p:sp>
        <p:nvSpPr>
          <p:cNvPr id="11" name="Shape 9"/>
          <p:cNvSpPr/>
          <p:nvPr/>
        </p:nvSpPr>
        <p:spPr>
          <a:xfrm>
            <a:off x="3186684" y="1965960"/>
            <a:ext cx="256032" cy="256032"/>
          </a:xfrm>
          <a:prstGeom prst="ellipse">
            <a:avLst/>
          </a:prstGeom>
          <a:solidFill>
            <a:srgbClr val="028090"/>
          </a:solidFill>
          <a:ln/>
        </p:spPr>
      </p:sp>
      <p:sp>
        <p:nvSpPr>
          <p:cNvPr id="12" name="Text 10"/>
          <p:cNvSpPr txBox="1"/>
          <p:nvPr/>
        </p:nvSpPr>
        <p:spPr>
          <a:xfrm>
            <a:off x="3186684" y="196596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Shape 11"/>
          <p:cNvSpPr/>
          <p:nvPr/>
        </p:nvSpPr>
        <p:spPr>
          <a:xfrm>
            <a:off x="4206240" y="2788920"/>
            <a:ext cx="182880" cy="0"/>
          </a:xfrm>
          <a:prstGeom prst="line">
            <a:avLst/>
          </a:prstGeom>
          <a:noFill/>
          <a:ln w="25400">
            <a:solidFill>
              <a:srgbClr val="00A896"/>
            </a:solidFill>
            <a:prstDash val="solid"/>
            <a:tailEnd type="triangle"/>
          </a:ln>
        </p:spPr>
      </p:sp>
      <p:sp>
        <p:nvSpPr>
          <p:cNvPr id="14" name="Shape 12"/>
          <p:cNvSpPr/>
          <p:nvPr/>
        </p:nvSpPr>
        <p:spPr>
          <a:xfrm>
            <a:off x="4389120" y="2286000"/>
            <a:ext cx="1783080" cy="1005840"/>
          </a:xfrm>
          <a:prstGeom prst="roundRect">
            <a:avLst>
              <a:gd name="adj" fmla="val 7273"/>
            </a:avLst>
          </a:prstGeom>
          <a:solidFill>
            <a:srgbClr val="E4F5F3"/>
          </a:solidFill>
          <a:ln w="12700">
            <a:solidFill>
              <a:srgbClr val="028090"/>
            </a:solidFill>
            <a:prstDash val="solid"/>
          </a:ln>
        </p:spPr>
      </p:sp>
      <p:sp>
        <p:nvSpPr>
          <p:cNvPr id="15" name="Text 13"/>
          <p:cNvSpPr txBox="1"/>
          <p:nvPr/>
        </p:nvSpPr>
        <p:spPr>
          <a:xfrm>
            <a:off x="4480560" y="2286000"/>
            <a:ext cx="1600200" cy="1005840"/>
          </a:xfrm>
          <a:prstGeom prst="rect">
            <a:avLst/>
          </a:prstGeom>
          <a:noFill/>
          <a:ln/>
        </p:spPr>
        <p:txBody>
          <a:bodyPr wrap="square" lIns="0" tIns="0" rIns="0" bIns="0" rtlCol="0" anchor="ctr"/>
          <a:lstStyle/>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Assemble</a:t>
            </a:r>
            <a:endParaRPr lang="en-US" sz="900" dirty="0"/>
          </a:p>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electronics</a:t>
            </a:r>
            <a:endParaRPr lang="en-US" sz="900" dirty="0"/>
          </a:p>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module</a:t>
            </a:r>
            <a:endParaRPr lang="en-US" sz="900" dirty="0"/>
          </a:p>
        </p:txBody>
      </p:sp>
      <p:sp>
        <p:nvSpPr>
          <p:cNvPr id="16" name="Shape 14"/>
          <p:cNvSpPr/>
          <p:nvPr/>
        </p:nvSpPr>
        <p:spPr>
          <a:xfrm>
            <a:off x="5152644" y="1965960"/>
            <a:ext cx="256032" cy="256032"/>
          </a:xfrm>
          <a:prstGeom prst="ellipse">
            <a:avLst/>
          </a:prstGeom>
          <a:solidFill>
            <a:srgbClr val="028090"/>
          </a:solidFill>
          <a:ln/>
        </p:spPr>
      </p:sp>
      <p:sp>
        <p:nvSpPr>
          <p:cNvPr id="17" name="Text 15"/>
          <p:cNvSpPr txBox="1"/>
          <p:nvPr/>
        </p:nvSpPr>
        <p:spPr>
          <a:xfrm>
            <a:off x="5152644" y="196596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Shape 16"/>
          <p:cNvSpPr/>
          <p:nvPr/>
        </p:nvSpPr>
        <p:spPr>
          <a:xfrm>
            <a:off x="6172200" y="2788920"/>
            <a:ext cx="182880" cy="0"/>
          </a:xfrm>
          <a:prstGeom prst="line">
            <a:avLst/>
          </a:prstGeom>
          <a:noFill/>
          <a:ln w="25400">
            <a:solidFill>
              <a:srgbClr val="00A896"/>
            </a:solidFill>
            <a:prstDash val="solid"/>
            <a:tailEnd type="triangle"/>
          </a:ln>
        </p:spPr>
      </p:sp>
      <p:sp>
        <p:nvSpPr>
          <p:cNvPr id="19" name="Shape 17"/>
          <p:cNvSpPr/>
          <p:nvPr/>
        </p:nvSpPr>
        <p:spPr>
          <a:xfrm>
            <a:off x="6355080" y="2286000"/>
            <a:ext cx="1783080" cy="1005840"/>
          </a:xfrm>
          <a:prstGeom prst="roundRect">
            <a:avLst>
              <a:gd name="adj" fmla="val 7273"/>
            </a:avLst>
          </a:prstGeom>
          <a:solidFill>
            <a:srgbClr val="F4FAF9"/>
          </a:solidFill>
          <a:ln w="12700">
            <a:solidFill>
              <a:srgbClr val="028090"/>
            </a:solidFill>
            <a:prstDash val="solid"/>
          </a:ln>
        </p:spPr>
      </p:sp>
      <p:sp>
        <p:nvSpPr>
          <p:cNvPr id="20" name="Text 18"/>
          <p:cNvSpPr txBox="1"/>
          <p:nvPr/>
        </p:nvSpPr>
        <p:spPr>
          <a:xfrm>
            <a:off x="6446520" y="2286000"/>
            <a:ext cx="1600200" cy="1005840"/>
          </a:xfrm>
          <a:prstGeom prst="rect">
            <a:avLst/>
          </a:prstGeom>
          <a:noFill/>
          <a:ln/>
        </p:spPr>
        <p:txBody>
          <a:bodyPr wrap="square" lIns="0" tIns="0" rIns="0" bIns="0" rtlCol="0" anchor="ctr"/>
          <a:lstStyle/>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Integrate</a:t>
            </a:r>
            <a:endParaRPr lang="en-US" sz="900" dirty="0"/>
          </a:p>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attachable-part</a:t>
            </a:r>
            <a:endParaRPr lang="en-US" sz="900" dirty="0"/>
          </a:p>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heater</a:t>
            </a:r>
            <a:endParaRPr lang="en-US" sz="900" dirty="0"/>
          </a:p>
        </p:txBody>
      </p:sp>
      <p:sp>
        <p:nvSpPr>
          <p:cNvPr id="21" name="Shape 19"/>
          <p:cNvSpPr/>
          <p:nvPr/>
        </p:nvSpPr>
        <p:spPr>
          <a:xfrm>
            <a:off x="7118604" y="1965960"/>
            <a:ext cx="256032" cy="256032"/>
          </a:xfrm>
          <a:prstGeom prst="ellipse">
            <a:avLst/>
          </a:prstGeom>
          <a:solidFill>
            <a:srgbClr val="028090"/>
          </a:solidFill>
          <a:ln/>
        </p:spPr>
      </p:sp>
      <p:sp>
        <p:nvSpPr>
          <p:cNvPr id="22" name="Text 20"/>
          <p:cNvSpPr txBox="1"/>
          <p:nvPr/>
        </p:nvSpPr>
        <p:spPr>
          <a:xfrm>
            <a:off x="7118604" y="196596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Shape 21"/>
          <p:cNvSpPr/>
          <p:nvPr/>
        </p:nvSpPr>
        <p:spPr>
          <a:xfrm>
            <a:off x="8138160" y="2788920"/>
            <a:ext cx="182880" cy="0"/>
          </a:xfrm>
          <a:prstGeom prst="line">
            <a:avLst/>
          </a:prstGeom>
          <a:noFill/>
          <a:ln w="25400">
            <a:solidFill>
              <a:srgbClr val="00A896"/>
            </a:solidFill>
            <a:prstDash val="solid"/>
            <a:tailEnd type="triangle"/>
          </a:ln>
        </p:spPr>
      </p:sp>
      <p:sp>
        <p:nvSpPr>
          <p:cNvPr id="24" name="Shape 22"/>
          <p:cNvSpPr/>
          <p:nvPr/>
        </p:nvSpPr>
        <p:spPr>
          <a:xfrm>
            <a:off x="8321040" y="2286000"/>
            <a:ext cx="1783080" cy="1005840"/>
          </a:xfrm>
          <a:prstGeom prst="roundRect">
            <a:avLst>
              <a:gd name="adj" fmla="val 7273"/>
            </a:avLst>
          </a:prstGeom>
          <a:solidFill>
            <a:srgbClr val="E4F5F3"/>
          </a:solidFill>
          <a:ln w="12700">
            <a:solidFill>
              <a:srgbClr val="028090"/>
            </a:solidFill>
            <a:prstDash val="solid"/>
          </a:ln>
        </p:spPr>
      </p:sp>
      <p:sp>
        <p:nvSpPr>
          <p:cNvPr id="25" name="Text 23"/>
          <p:cNvSpPr txBox="1"/>
          <p:nvPr/>
        </p:nvSpPr>
        <p:spPr>
          <a:xfrm>
            <a:off x="8412480" y="2286000"/>
            <a:ext cx="1600200" cy="1005840"/>
          </a:xfrm>
          <a:prstGeom prst="rect">
            <a:avLst/>
          </a:prstGeom>
          <a:noFill/>
          <a:ln/>
        </p:spPr>
        <p:txBody>
          <a:bodyPr wrap="square" lIns="0" tIns="0" rIns="0" bIns="0" rtlCol="0" anchor="ctr"/>
          <a:lstStyle/>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Bench test</a:t>
            </a:r>
            <a:endParaRPr lang="en-US" sz="900" dirty="0"/>
          </a:p>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(signal fidelity,</a:t>
            </a:r>
            <a:endParaRPr lang="en-US" sz="900" dirty="0"/>
          </a:p>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durability)</a:t>
            </a:r>
            <a:endParaRPr lang="en-US" sz="900" dirty="0"/>
          </a:p>
        </p:txBody>
      </p:sp>
      <p:sp>
        <p:nvSpPr>
          <p:cNvPr id="26" name="Shape 24"/>
          <p:cNvSpPr/>
          <p:nvPr/>
        </p:nvSpPr>
        <p:spPr>
          <a:xfrm>
            <a:off x="9084564" y="1965960"/>
            <a:ext cx="256032" cy="256032"/>
          </a:xfrm>
          <a:prstGeom prst="ellipse">
            <a:avLst/>
          </a:prstGeom>
          <a:solidFill>
            <a:srgbClr val="028090"/>
          </a:solidFill>
          <a:ln/>
        </p:spPr>
      </p:sp>
      <p:sp>
        <p:nvSpPr>
          <p:cNvPr id="27" name="Text 25"/>
          <p:cNvSpPr txBox="1"/>
          <p:nvPr/>
        </p:nvSpPr>
        <p:spPr>
          <a:xfrm>
            <a:off x="9084564" y="196596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Shape 26"/>
          <p:cNvSpPr/>
          <p:nvPr/>
        </p:nvSpPr>
        <p:spPr>
          <a:xfrm>
            <a:off x="10104120" y="2788920"/>
            <a:ext cx="182880" cy="0"/>
          </a:xfrm>
          <a:prstGeom prst="line">
            <a:avLst/>
          </a:prstGeom>
          <a:noFill/>
          <a:ln w="25400">
            <a:solidFill>
              <a:srgbClr val="00A896"/>
            </a:solidFill>
            <a:prstDash val="solid"/>
            <a:tailEnd type="triangle"/>
          </a:ln>
        </p:spPr>
      </p:sp>
      <p:sp>
        <p:nvSpPr>
          <p:cNvPr id="29" name="Shape 27"/>
          <p:cNvSpPr/>
          <p:nvPr/>
        </p:nvSpPr>
        <p:spPr>
          <a:xfrm>
            <a:off x="10287000" y="2286000"/>
            <a:ext cx="1783080" cy="1005840"/>
          </a:xfrm>
          <a:prstGeom prst="roundRect">
            <a:avLst>
              <a:gd name="adj" fmla="val 7273"/>
            </a:avLst>
          </a:prstGeom>
          <a:solidFill>
            <a:srgbClr val="F4FAF9"/>
          </a:solidFill>
          <a:ln w="12700">
            <a:solidFill>
              <a:srgbClr val="028090"/>
            </a:solidFill>
            <a:prstDash val="solid"/>
          </a:ln>
        </p:spPr>
      </p:sp>
      <p:sp>
        <p:nvSpPr>
          <p:cNvPr id="30" name="Text 28"/>
          <p:cNvSpPr txBox="1"/>
          <p:nvPr/>
        </p:nvSpPr>
        <p:spPr>
          <a:xfrm>
            <a:off x="10378440" y="2286000"/>
            <a:ext cx="1600200" cy="1005840"/>
          </a:xfrm>
          <a:prstGeom prst="rect">
            <a:avLst/>
          </a:prstGeom>
          <a:noFill/>
          <a:ln/>
        </p:spPr>
        <p:txBody>
          <a:bodyPr wrap="square" lIns="0" tIns="0" rIns="0" bIns="0" rtlCol="0" anchor="ctr"/>
          <a:lstStyle/>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Pilot with</a:t>
            </a:r>
            <a:endParaRPr lang="en-US" sz="900" dirty="0"/>
          </a:p>
          <a:p>
            <a:pPr algn="ctr" indent="0" marL="0">
              <a:lnSpc>
                <a:spcPct val="110000"/>
              </a:lnSpc>
              <a:buNone/>
            </a:pPr>
            <a:r>
              <a:rPr lang="en-US" sz="900" b="1" dirty="0">
                <a:solidFill>
                  <a:srgbClr val="073B4C"/>
                </a:solidFill>
                <a:latin typeface="Calibri" pitchFamily="34" charset="0"/>
                <a:ea typeface="Calibri" pitchFamily="34" charset="-122"/>
                <a:cs typeface="Calibri" pitchFamily="34" charset="-120"/>
              </a:rPr>
              <a:t>real users</a:t>
            </a:r>
            <a:endParaRPr lang="en-US" sz="900" dirty="0"/>
          </a:p>
        </p:txBody>
      </p:sp>
      <p:sp>
        <p:nvSpPr>
          <p:cNvPr id="31" name="Shape 29"/>
          <p:cNvSpPr/>
          <p:nvPr/>
        </p:nvSpPr>
        <p:spPr>
          <a:xfrm>
            <a:off x="11050524" y="1965960"/>
            <a:ext cx="256032" cy="256032"/>
          </a:xfrm>
          <a:prstGeom prst="ellipse">
            <a:avLst/>
          </a:prstGeom>
          <a:solidFill>
            <a:srgbClr val="028090"/>
          </a:solidFill>
          <a:ln/>
        </p:spPr>
      </p:sp>
      <p:sp>
        <p:nvSpPr>
          <p:cNvPr id="32" name="Text 30"/>
          <p:cNvSpPr txBox="1"/>
          <p:nvPr/>
        </p:nvSpPr>
        <p:spPr>
          <a:xfrm>
            <a:off x="11050524" y="196596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1"/>
          <p:cNvSpPr txBox="1"/>
          <p:nvPr/>
        </p:nvSpPr>
        <p:spPr>
          <a:xfrm>
            <a:off x="457200" y="3840480"/>
            <a:ext cx="5486400" cy="320040"/>
          </a:xfrm>
          <a:prstGeom prst="rect">
            <a:avLst/>
          </a:prstGeom>
          <a:noFill/>
          <a:ln/>
        </p:spPr>
        <p:txBody>
          <a:bodyPr wrap="square" lIns="0" tIns="0" rIns="0" bIns="0" rtlCol="0" anchor="ctr"/>
          <a:lstStyle/>
          <a:p>
            <a:pPr indent="0" marL="0">
              <a:buNone/>
            </a:pPr>
            <a:r>
              <a:rPr lang="en-US" sz="1500" b="1" dirty="0">
                <a:solidFill>
                  <a:srgbClr val="073B4C"/>
                </a:solidFill>
                <a:latin typeface="Cambria" pitchFamily="34" charset="0"/>
                <a:ea typeface="Cambria" pitchFamily="34" charset="-122"/>
                <a:cs typeface="Cambria" pitchFamily="34" charset="-120"/>
              </a:rPr>
              <a:t>Equipment &amp; Materials</a:t>
            </a:r>
            <a:endParaRPr lang="en-US" sz="1500" dirty="0"/>
          </a:p>
        </p:txBody>
      </p:sp>
      <p:sp>
        <p:nvSpPr>
          <p:cNvPr id="34" name="Text 32"/>
          <p:cNvSpPr txBox="1"/>
          <p:nvPr/>
        </p:nvSpPr>
        <p:spPr>
          <a:xfrm>
            <a:off x="457200" y="4206240"/>
            <a:ext cx="5394960" cy="274320"/>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Printing &amp; Fabrication</a:t>
            </a:r>
            <a:endParaRPr lang="en-US" sz="1150" dirty="0"/>
          </a:p>
        </p:txBody>
      </p:sp>
      <p:sp>
        <p:nvSpPr>
          <p:cNvPr id="35" name="Text 33"/>
          <p:cNvSpPr txBox="1"/>
          <p:nvPr/>
        </p:nvSpPr>
        <p:spPr>
          <a:xfrm>
            <a:off x="457200" y="4526280"/>
            <a:ext cx="5394960" cy="164592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Screen printer or roll-to-roll press</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Conductive silver, dielectric, and piezoresistive inks</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Flexible PET/TPU substrate</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Pick-and-place for the hybrid IC</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Lamination/encapsulation press</a:t>
            </a:r>
            <a:endParaRPr lang="en-US" sz="950" dirty="0"/>
          </a:p>
        </p:txBody>
      </p:sp>
      <p:sp>
        <p:nvSpPr>
          <p:cNvPr id="36" name="Text 34"/>
          <p:cNvSpPr txBox="1"/>
          <p:nvPr/>
        </p:nvSpPr>
        <p:spPr>
          <a:xfrm>
            <a:off x="6126480" y="4206240"/>
            <a:ext cx="5394960" cy="274320"/>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Testing &amp; Validation</a:t>
            </a:r>
            <a:endParaRPr lang="en-US" sz="1150" dirty="0"/>
          </a:p>
        </p:txBody>
      </p:sp>
      <p:sp>
        <p:nvSpPr>
          <p:cNvPr id="37" name="Text 35"/>
          <p:cNvSpPr txBox="1"/>
          <p:nvPr/>
        </p:nvSpPr>
        <p:spPr>
          <a:xfrm>
            <a:off x="6126480" y="4526280"/>
            <a:ext cx="5394960" cy="164592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Multimeter / LCR meter</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Oscilloscope for signal fidelity</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Flex-cycle chamber for durability</a:t>
            </a:r>
            <a:endParaRPr lang="en-US" sz="950" dirty="0"/>
          </a:p>
          <a:p>
            <a:pPr marL="127000" indent="-127000">
              <a:lnSpc>
                <a:spcPct val="112000"/>
              </a:lnSpc>
              <a:spcAft>
                <a:spcPts val="800"/>
              </a:spcAft>
              <a:buSzPct val="100000"/>
              <a:buChar char="•"/>
            </a:pPr>
            <a:r>
              <a:rPr lang="en-US" sz="950" dirty="0">
                <a:solidFill>
                  <a:srgbClr val="073B4C"/>
                </a:solidFill>
                <a:latin typeface="Calibri" pitchFamily="34" charset="0"/>
                <a:ea typeface="Calibri" pitchFamily="34" charset="-122"/>
                <a:cs typeface="Calibri" pitchFamily="34" charset="-120"/>
              </a:rPr>
              <a:t>Reference EMG device for calibration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789920" cy="457200"/>
          </a:xfrm>
          <a:prstGeom prst="rect">
            <a:avLst/>
          </a:prstGeom>
          <a:noFill/>
          <a:ln/>
        </p:spPr>
        <p:txBody>
          <a:bodyPr wrap="square" lIns="0" tIns="0" rIns="0" bIns="0" rtlCol="0" anchor="ctr"/>
          <a:lstStyle/>
          <a:p>
            <a:pPr indent="0" marL="0">
              <a:buNone/>
            </a:pPr>
            <a:r>
              <a:rPr lang="en-US" sz="2500" b="1" dirty="0">
                <a:solidFill>
                  <a:srgbClr val="073B4C"/>
                </a:solidFill>
                <a:latin typeface="Cambria" pitchFamily="34" charset="0"/>
                <a:ea typeface="Cambria" pitchFamily="34" charset="-122"/>
                <a:cs typeface="Cambria" pitchFamily="34" charset="-120"/>
              </a:rPr>
              <a:t>What's Next</a:t>
            </a:r>
            <a:endParaRPr lang="en-US" sz="2500" dirty="0"/>
          </a:p>
        </p:txBody>
      </p:sp>
      <p:sp>
        <p:nvSpPr>
          <p:cNvPr id="3" name="Text 1"/>
          <p:cNvSpPr txBox="1"/>
          <p:nvPr/>
        </p:nvSpPr>
        <p:spPr>
          <a:xfrm>
            <a:off x="457200" y="777240"/>
            <a:ext cx="10972800" cy="365760"/>
          </a:xfrm>
          <a:prstGeom prst="rect">
            <a:avLst/>
          </a:prstGeom>
          <a:noFill/>
          <a:ln/>
        </p:spPr>
        <p:txBody>
          <a:bodyPr wrap="square" lIns="0" tIns="0" rIns="0" bIns="0" rtlCol="0" anchor="ctr"/>
          <a:lstStyle/>
          <a:p>
            <a:pPr indent="0" marL="0">
              <a:buNone/>
            </a:pPr>
            <a:r>
              <a:rPr lang="en-US" sz="1300" dirty="0">
                <a:solidFill>
                  <a:srgbClr val="5C7A78"/>
                </a:solidFill>
                <a:latin typeface="Calibri" pitchFamily="34" charset="0"/>
                <a:ea typeface="Calibri" pitchFamily="34" charset="-122"/>
                <a:cs typeface="Calibri" pitchFamily="34" charset="-120"/>
              </a:rPr>
              <a:t>Prove the core, then extend the same hardware further</a:t>
            </a:r>
            <a:endParaRPr lang="en-US" sz="1300" dirty="0"/>
          </a:p>
        </p:txBody>
      </p:sp>
      <p:sp>
        <p:nvSpPr>
          <p:cNvPr id="4" name="Shape 2"/>
          <p:cNvSpPr/>
          <p:nvPr/>
        </p:nvSpPr>
        <p:spPr>
          <a:xfrm>
            <a:off x="457200" y="1463040"/>
            <a:ext cx="3639312" cy="3108960"/>
          </a:xfrm>
          <a:prstGeom prst="rect">
            <a:avLst/>
          </a:prstGeom>
          <a:solidFill>
            <a:srgbClr val="E4F5F3"/>
          </a:solidFill>
          <a:ln w="15875">
            <a:solidFill>
              <a:srgbClr val="028090"/>
            </a:solidFill>
            <a:prstDash val="solid"/>
          </a:ln>
        </p:spPr>
      </p:sp>
      <p:sp>
        <p:nvSpPr>
          <p:cNvPr id="5" name="Shape 3"/>
          <p:cNvSpPr/>
          <p:nvPr/>
        </p:nvSpPr>
        <p:spPr>
          <a:xfrm>
            <a:off x="640080" y="1645920"/>
            <a:ext cx="329184" cy="329184"/>
          </a:xfrm>
          <a:prstGeom prst="ellipse">
            <a:avLst/>
          </a:prstGeom>
          <a:solidFill>
            <a:srgbClr val="028090"/>
          </a:solidFill>
          <a:ln/>
        </p:spPr>
      </p:sp>
      <p:sp>
        <p:nvSpPr>
          <p:cNvPr id="6" name="Text 4"/>
          <p:cNvSpPr txBox="1"/>
          <p:nvPr/>
        </p:nvSpPr>
        <p:spPr>
          <a:xfrm>
            <a:off x="640080" y="16459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3090672" y="1682496"/>
            <a:ext cx="822960" cy="274320"/>
          </a:xfrm>
          <a:prstGeom prst="rect">
            <a:avLst/>
          </a:prstGeom>
          <a:noFill/>
          <a:ln/>
        </p:spPr>
        <p:txBody>
          <a:bodyPr wrap="square" lIns="0" tIns="0" rIns="0" bIns="0" rtlCol="0" anchor="ctr"/>
          <a:lstStyle/>
          <a:p>
            <a:pPr algn="r" indent="0" marL="0">
              <a:buNone/>
            </a:pPr>
            <a:r>
              <a:rPr lang="en-US" sz="1000" b="1" dirty="0">
                <a:solidFill>
                  <a:srgbClr val="028090"/>
                </a:solidFill>
                <a:latin typeface="Calibri" pitchFamily="34" charset="0"/>
                <a:ea typeface="Calibri" pitchFamily="34" charset="-122"/>
                <a:cs typeface="Calibri" pitchFamily="34" charset="-120"/>
              </a:rPr>
              <a:t>NOW</a:t>
            </a:r>
            <a:endParaRPr lang="en-US" sz="1000" dirty="0"/>
          </a:p>
        </p:txBody>
      </p:sp>
      <p:sp>
        <p:nvSpPr>
          <p:cNvPr id="8" name="Text 6"/>
          <p:cNvSpPr txBox="1"/>
          <p:nvPr/>
        </p:nvSpPr>
        <p:spPr>
          <a:xfrm>
            <a:off x="685800" y="2148840"/>
            <a:ext cx="3182112" cy="822960"/>
          </a:xfrm>
          <a:prstGeom prst="rect">
            <a:avLst/>
          </a:prstGeom>
          <a:noFill/>
          <a:ln/>
        </p:spPr>
        <p:txBody>
          <a:bodyPr wrap="square" lIns="0" tIns="0" rIns="0" bIns="0" rtlCol="0" anchor="t"/>
          <a:lstStyle/>
          <a:p>
            <a:pPr indent="0" marL="0">
              <a:lnSpc>
                <a:spcPct val="105000"/>
              </a:lnSpc>
              <a:buNone/>
            </a:pPr>
            <a:r>
              <a:rPr lang="en-US" sz="1400" b="1" dirty="0">
                <a:solidFill>
                  <a:srgbClr val="073B4C"/>
                </a:solidFill>
                <a:latin typeface="Calibri" pitchFamily="34" charset="0"/>
                <a:ea typeface="Calibri" pitchFamily="34" charset="-122"/>
                <a:cs typeface="Calibri" pitchFamily="34" charset="-120"/>
              </a:rPr>
              <a:t>Abdominal Tension &amp; Period Comfort</a:t>
            </a:r>
            <a:endParaRPr lang="en-US" sz="1400" dirty="0"/>
          </a:p>
        </p:txBody>
      </p:sp>
      <p:sp>
        <p:nvSpPr>
          <p:cNvPr id="9" name="Text 7"/>
          <p:cNvSpPr txBox="1"/>
          <p:nvPr/>
        </p:nvSpPr>
        <p:spPr>
          <a:xfrm>
            <a:off x="685800" y="3017520"/>
            <a:ext cx="3182112" cy="1417320"/>
          </a:xfrm>
          <a:prstGeom prst="rect">
            <a:avLst/>
          </a:prstGeom>
          <a:noFill/>
          <a:ln/>
        </p:spPr>
        <p:txBody>
          <a:bodyPr wrap="square" lIns="0" tIns="0" rIns="0" bIns="0" rtlCol="0" anchor="t"/>
          <a:lstStyle/>
          <a:p>
            <a:pPr indent="0" marL="0">
              <a:lnSpc>
                <a:spcPct val="115000"/>
              </a:lnSpc>
              <a:buNone/>
            </a:pPr>
            <a:r>
              <a:rPr lang="en-US" sz="1000" dirty="0">
                <a:solidFill>
                  <a:srgbClr val="073B4C"/>
                </a:solidFill>
                <a:latin typeface="Calibri" pitchFamily="34" charset="0"/>
                <a:ea typeface="Calibri" pitchFamily="34" charset="-122"/>
                <a:cs typeface="Calibri" pitchFamily="34" charset="-120"/>
              </a:rPr>
              <a:t>Core sensing (EMG, GSR, strain) and Respond heat, on the two-part hardware - the Day-1 build.</a:t>
            </a:r>
            <a:endParaRPr lang="en-US" sz="1000" dirty="0"/>
          </a:p>
        </p:txBody>
      </p:sp>
      <p:sp>
        <p:nvSpPr>
          <p:cNvPr id="10" name="Shape 8"/>
          <p:cNvSpPr/>
          <p:nvPr/>
        </p:nvSpPr>
        <p:spPr>
          <a:xfrm>
            <a:off x="4279392" y="1463040"/>
            <a:ext cx="3639312" cy="3108960"/>
          </a:xfrm>
          <a:prstGeom prst="rect">
            <a:avLst/>
          </a:prstGeom>
          <a:solidFill>
            <a:srgbClr val="F4FAF9"/>
          </a:solidFill>
          <a:ln w="15875">
            <a:solidFill>
              <a:srgbClr val="00A896"/>
            </a:solidFill>
            <a:prstDash val="solid"/>
          </a:ln>
        </p:spPr>
      </p:sp>
      <p:sp>
        <p:nvSpPr>
          <p:cNvPr id="11" name="Shape 9"/>
          <p:cNvSpPr/>
          <p:nvPr/>
        </p:nvSpPr>
        <p:spPr>
          <a:xfrm>
            <a:off x="4462272" y="1645920"/>
            <a:ext cx="329184" cy="329184"/>
          </a:xfrm>
          <a:prstGeom prst="ellipse">
            <a:avLst/>
          </a:prstGeom>
          <a:solidFill>
            <a:srgbClr val="00A896"/>
          </a:solidFill>
          <a:ln/>
        </p:spPr>
      </p:sp>
      <p:sp>
        <p:nvSpPr>
          <p:cNvPr id="12" name="Text 10"/>
          <p:cNvSpPr txBox="1"/>
          <p:nvPr/>
        </p:nvSpPr>
        <p:spPr>
          <a:xfrm>
            <a:off x="4462272" y="16459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912864" y="1682496"/>
            <a:ext cx="822960" cy="274320"/>
          </a:xfrm>
          <a:prstGeom prst="rect">
            <a:avLst/>
          </a:prstGeom>
          <a:noFill/>
          <a:ln/>
        </p:spPr>
        <p:txBody>
          <a:bodyPr wrap="square" lIns="0" tIns="0" rIns="0" bIns="0" rtlCol="0" anchor="ctr"/>
          <a:lstStyle/>
          <a:p>
            <a:pPr algn="r" indent="0" marL="0">
              <a:buNone/>
            </a:pPr>
            <a:r>
              <a:rPr lang="en-US" sz="1000" b="1" dirty="0">
                <a:solidFill>
                  <a:srgbClr val="00A896"/>
                </a:solidFill>
                <a:latin typeface="Calibri" pitchFamily="34" charset="0"/>
                <a:ea typeface="Calibri" pitchFamily="34" charset="-122"/>
                <a:cs typeface="Calibri" pitchFamily="34" charset="-120"/>
              </a:rPr>
              <a:t>NEXT</a:t>
            </a:r>
            <a:endParaRPr lang="en-US" sz="1000" dirty="0"/>
          </a:p>
        </p:txBody>
      </p:sp>
      <p:sp>
        <p:nvSpPr>
          <p:cNvPr id="14" name="Text 12"/>
          <p:cNvSpPr txBox="1"/>
          <p:nvPr/>
        </p:nvSpPr>
        <p:spPr>
          <a:xfrm>
            <a:off x="4507992" y="2148840"/>
            <a:ext cx="3182112" cy="822960"/>
          </a:xfrm>
          <a:prstGeom prst="rect">
            <a:avLst/>
          </a:prstGeom>
          <a:noFill/>
          <a:ln/>
        </p:spPr>
        <p:txBody>
          <a:bodyPr wrap="square" lIns="0" tIns="0" rIns="0" bIns="0" rtlCol="0" anchor="t"/>
          <a:lstStyle/>
          <a:p>
            <a:pPr indent="0" marL="0">
              <a:lnSpc>
                <a:spcPct val="105000"/>
              </a:lnSpc>
              <a:buNone/>
            </a:pPr>
            <a:r>
              <a:rPr lang="en-US" sz="1400" b="1" dirty="0">
                <a:solidFill>
                  <a:srgbClr val="073B4C"/>
                </a:solidFill>
                <a:latin typeface="Calibri" pitchFamily="34" charset="0"/>
                <a:ea typeface="Calibri" pitchFamily="34" charset="-122"/>
                <a:cs typeface="Calibri" pitchFamily="34" charset="-120"/>
              </a:rPr>
              <a:t>New Attachable-Part Placements</a:t>
            </a:r>
            <a:endParaRPr lang="en-US" sz="1400" dirty="0"/>
          </a:p>
        </p:txBody>
      </p:sp>
      <p:sp>
        <p:nvSpPr>
          <p:cNvPr id="15" name="Text 13"/>
          <p:cNvSpPr txBox="1"/>
          <p:nvPr/>
        </p:nvSpPr>
        <p:spPr>
          <a:xfrm>
            <a:off x="4507992" y="3017520"/>
            <a:ext cx="3182112" cy="1417320"/>
          </a:xfrm>
          <a:prstGeom prst="rect">
            <a:avLst/>
          </a:prstGeom>
          <a:noFill/>
          <a:ln/>
        </p:spPr>
        <p:txBody>
          <a:bodyPr wrap="square" lIns="0" tIns="0" rIns="0" bIns="0" rtlCol="0" anchor="t"/>
          <a:lstStyle/>
          <a:p>
            <a:pPr indent="0" marL="0">
              <a:lnSpc>
                <a:spcPct val="115000"/>
              </a:lnSpc>
              <a:buNone/>
            </a:pPr>
            <a:r>
              <a:rPr lang="en-US" sz="1000" dirty="0">
                <a:solidFill>
                  <a:srgbClr val="073B4C"/>
                </a:solidFill>
                <a:latin typeface="Calibri" pitchFamily="34" charset="0"/>
                <a:ea typeface="Calibri" pitchFamily="34" charset="-122"/>
                <a:cs typeface="Calibri" pitchFamily="34" charset="-120"/>
              </a:rPr>
              <a:t>Same electronics module, new attachable parts sized for other tension areas (e.g. lower back), sold as additional refill lines.</a:t>
            </a:r>
            <a:endParaRPr lang="en-US" sz="1000" dirty="0"/>
          </a:p>
        </p:txBody>
      </p:sp>
      <p:sp>
        <p:nvSpPr>
          <p:cNvPr id="16" name="Shape 14"/>
          <p:cNvSpPr/>
          <p:nvPr/>
        </p:nvSpPr>
        <p:spPr>
          <a:xfrm>
            <a:off x="8101584" y="1463040"/>
            <a:ext cx="3639312" cy="3108960"/>
          </a:xfrm>
          <a:prstGeom prst="rect">
            <a:avLst/>
          </a:prstGeom>
          <a:solidFill>
            <a:srgbClr val="F4FAF9"/>
          </a:solidFill>
          <a:ln w="15875">
            <a:solidFill>
              <a:srgbClr val="02C39A"/>
            </a:solidFill>
            <a:prstDash val="solid"/>
          </a:ln>
        </p:spPr>
      </p:sp>
      <p:sp>
        <p:nvSpPr>
          <p:cNvPr id="17" name="Shape 15"/>
          <p:cNvSpPr/>
          <p:nvPr/>
        </p:nvSpPr>
        <p:spPr>
          <a:xfrm>
            <a:off x="8284464" y="1645920"/>
            <a:ext cx="329184" cy="329184"/>
          </a:xfrm>
          <a:prstGeom prst="ellipse">
            <a:avLst/>
          </a:prstGeom>
          <a:solidFill>
            <a:srgbClr val="02C39A"/>
          </a:solidFill>
          <a:ln/>
        </p:spPr>
      </p:sp>
      <p:sp>
        <p:nvSpPr>
          <p:cNvPr id="18" name="Text 16"/>
          <p:cNvSpPr txBox="1"/>
          <p:nvPr/>
        </p:nvSpPr>
        <p:spPr>
          <a:xfrm>
            <a:off x="8284464" y="16459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0735056" y="1682496"/>
            <a:ext cx="822960" cy="274320"/>
          </a:xfrm>
          <a:prstGeom prst="rect">
            <a:avLst/>
          </a:prstGeom>
          <a:noFill/>
          <a:ln/>
        </p:spPr>
        <p:txBody>
          <a:bodyPr wrap="square" lIns="0" tIns="0" rIns="0" bIns="0" rtlCol="0" anchor="ctr"/>
          <a:lstStyle/>
          <a:p>
            <a:pPr algn="r" indent="0" marL="0">
              <a:buNone/>
            </a:pPr>
            <a:r>
              <a:rPr lang="en-US" sz="1000" b="1" dirty="0">
                <a:solidFill>
                  <a:srgbClr val="02C39A"/>
                </a:solidFill>
                <a:latin typeface="Calibri" pitchFamily="34" charset="0"/>
                <a:ea typeface="Calibri" pitchFamily="34" charset="-122"/>
                <a:cs typeface="Calibri" pitchFamily="34" charset="-120"/>
              </a:rPr>
              <a:t>LATER</a:t>
            </a:r>
            <a:endParaRPr lang="en-US" sz="1000" dirty="0"/>
          </a:p>
        </p:txBody>
      </p:sp>
      <p:sp>
        <p:nvSpPr>
          <p:cNvPr id="20" name="Text 18"/>
          <p:cNvSpPr txBox="1"/>
          <p:nvPr/>
        </p:nvSpPr>
        <p:spPr>
          <a:xfrm>
            <a:off x="8330184" y="2148840"/>
            <a:ext cx="3182112" cy="822960"/>
          </a:xfrm>
          <a:prstGeom prst="rect">
            <a:avLst/>
          </a:prstGeom>
          <a:noFill/>
          <a:ln/>
        </p:spPr>
        <p:txBody>
          <a:bodyPr wrap="square" lIns="0" tIns="0" rIns="0" bIns="0" rtlCol="0" anchor="t"/>
          <a:lstStyle/>
          <a:p>
            <a:pPr indent="0" marL="0">
              <a:lnSpc>
                <a:spcPct val="105000"/>
              </a:lnSpc>
              <a:buNone/>
            </a:pPr>
            <a:r>
              <a:rPr lang="en-US" sz="1400" b="1" dirty="0">
                <a:solidFill>
                  <a:srgbClr val="073B4C"/>
                </a:solidFill>
                <a:latin typeface="Calibri" pitchFamily="34" charset="0"/>
                <a:ea typeface="Calibri" pitchFamily="34" charset="-122"/>
                <a:cs typeface="Calibri" pitchFamily="34" charset="-120"/>
              </a:rPr>
              <a:t>Respond+ Device Integration</a:t>
            </a:r>
            <a:endParaRPr lang="en-US" sz="1400" dirty="0"/>
          </a:p>
        </p:txBody>
      </p:sp>
      <p:sp>
        <p:nvSpPr>
          <p:cNvPr id="21" name="Text 19"/>
          <p:cNvSpPr txBox="1"/>
          <p:nvPr/>
        </p:nvSpPr>
        <p:spPr>
          <a:xfrm>
            <a:off x="8330184" y="3017520"/>
            <a:ext cx="3182112" cy="1417320"/>
          </a:xfrm>
          <a:prstGeom prst="rect">
            <a:avLst/>
          </a:prstGeom>
          <a:noFill/>
          <a:ln/>
        </p:spPr>
        <p:txBody>
          <a:bodyPr wrap="square" lIns="0" tIns="0" rIns="0" bIns="0" rtlCol="0" anchor="t"/>
          <a:lstStyle/>
          <a:p>
            <a:pPr indent="0" marL="0">
              <a:lnSpc>
                <a:spcPct val="115000"/>
              </a:lnSpc>
              <a:buNone/>
            </a:pPr>
            <a:r>
              <a:rPr lang="en-US" sz="1000" dirty="0">
                <a:solidFill>
                  <a:srgbClr val="073B4C"/>
                </a:solidFill>
                <a:latin typeface="Calibri" pitchFamily="34" charset="0"/>
                <a:ea typeface="Calibri" pitchFamily="34" charset="-122"/>
                <a:cs typeface="Calibri" pitchFamily="34" charset="-120"/>
              </a:rPr>
              <a:t>Formal compatibility with named third-party Bluetooth heat and vibration devices, beyond the current no-partnership roadmap item.</a:t>
            </a:r>
            <a:endParaRPr lang="en-US" sz="1000" dirty="0"/>
          </a:p>
        </p:txBody>
      </p:sp>
      <p:sp>
        <p:nvSpPr>
          <p:cNvPr id="22" name="Shape 20"/>
          <p:cNvSpPr/>
          <p:nvPr/>
        </p:nvSpPr>
        <p:spPr>
          <a:xfrm>
            <a:off x="457200" y="4846320"/>
            <a:ext cx="11247120" cy="822960"/>
          </a:xfrm>
          <a:prstGeom prst="rect">
            <a:avLst/>
          </a:prstGeom>
          <a:solidFill>
            <a:srgbClr val="E4F5F3"/>
          </a:solidFill>
          <a:ln w="12700">
            <a:solidFill>
              <a:srgbClr val="CFE3E1"/>
            </a:solidFill>
            <a:prstDash val="solid"/>
          </a:ln>
        </p:spPr>
      </p:sp>
      <p:sp>
        <p:nvSpPr>
          <p:cNvPr id="23" name="Text 21"/>
          <p:cNvSpPr txBox="1"/>
          <p:nvPr/>
        </p:nvSpPr>
        <p:spPr>
          <a:xfrm>
            <a:off x="640080" y="4956048"/>
            <a:ext cx="3657600"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Shared foundation across every phase:</a:t>
            </a:r>
            <a:endParaRPr lang="en-US" sz="1050" dirty="0"/>
          </a:p>
        </p:txBody>
      </p:sp>
      <p:sp>
        <p:nvSpPr>
          <p:cNvPr id="24" name="Text 22"/>
          <p:cNvSpPr txBox="1"/>
          <p:nvPr/>
        </p:nvSpPr>
        <p:spPr>
          <a:xfrm>
            <a:off x="640080" y="5230368"/>
            <a:ext cx="10881360" cy="365760"/>
          </a:xfrm>
          <a:prstGeom prst="rect">
            <a:avLst/>
          </a:prstGeom>
          <a:noFill/>
          <a:ln/>
        </p:spPr>
        <p:txBody>
          <a:bodyPr wrap="square" lIns="0" tIns="0" rIns="0" bIns="0" rtlCol="0" anchor="ctr"/>
          <a:lstStyle/>
          <a:p>
            <a:pPr indent="0" marL="0">
              <a:buNone/>
            </a:pPr>
            <a:r>
              <a:rPr lang="en-US" sz="1000" dirty="0">
                <a:solidFill>
                  <a:srgbClr val="073B4C"/>
                </a:solidFill>
                <a:latin typeface="Calibri" pitchFamily="34" charset="0"/>
                <a:ea typeface="Calibri" pitchFamily="34" charset="-122"/>
                <a:cs typeface="Calibri" pitchFamily="34" charset="-120"/>
              </a:rPr>
              <a:t>One rechargeable electronics module, reused across attachable parts and use cases - only the disposable layer changes.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789920" cy="457200"/>
          </a:xfrm>
          <a:prstGeom prst="rect">
            <a:avLst/>
          </a:prstGeom>
          <a:noFill/>
          <a:ln/>
        </p:spPr>
        <p:txBody>
          <a:bodyPr wrap="square" lIns="0" tIns="0" rIns="0" bIns="0" rtlCol="0" anchor="ctr"/>
          <a:lstStyle/>
          <a:p>
            <a:pPr indent="0" marL="0">
              <a:buNone/>
            </a:pPr>
            <a:r>
              <a:rPr lang="en-US" sz="2500" b="1" dirty="0">
                <a:solidFill>
                  <a:srgbClr val="073B4C"/>
                </a:solidFill>
                <a:latin typeface="Cambria" pitchFamily="34" charset="0"/>
                <a:ea typeface="Cambria" pitchFamily="34" charset="-122"/>
                <a:cs typeface="Cambria" pitchFamily="34" charset="-120"/>
              </a:rPr>
              <a:t>Glossary of Terms and Abbreviations</a:t>
            </a:r>
            <a:endParaRPr lang="en-US" sz="2500" dirty="0"/>
          </a:p>
        </p:txBody>
      </p:sp>
      <p:sp>
        <p:nvSpPr>
          <p:cNvPr id="3" name="Text 1"/>
          <p:cNvSpPr txBox="1"/>
          <p:nvPr/>
        </p:nvSpPr>
        <p:spPr>
          <a:xfrm>
            <a:off x="457200" y="777240"/>
            <a:ext cx="10972800" cy="365760"/>
          </a:xfrm>
          <a:prstGeom prst="rect">
            <a:avLst/>
          </a:prstGeom>
          <a:noFill/>
          <a:ln/>
        </p:spPr>
        <p:txBody>
          <a:bodyPr wrap="square" lIns="0" tIns="0" rIns="0" bIns="0" rtlCol="0" anchor="ctr"/>
          <a:lstStyle/>
          <a:p>
            <a:pPr indent="0" marL="0">
              <a:buNone/>
            </a:pPr>
            <a:r>
              <a:rPr lang="en-US" sz="1300" dirty="0">
                <a:solidFill>
                  <a:srgbClr val="5C7A78"/>
                </a:solidFill>
                <a:latin typeface="Calibri" pitchFamily="34" charset="0"/>
                <a:ea typeface="Calibri" pitchFamily="34" charset="-122"/>
                <a:cs typeface="Calibri" pitchFamily="34" charset="-120"/>
              </a:rPr>
              <a:t>Every acronym and technical term used in this deck, defined in one place</a:t>
            </a:r>
            <a:endParaRPr lang="en-US" sz="1300" dirty="0"/>
          </a:p>
        </p:txBody>
      </p:sp>
      <p:sp>
        <p:nvSpPr>
          <p:cNvPr id="4" name="Text 2"/>
          <p:cNvSpPr txBox="1"/>
          <p:nvPr/>
        </p:nvSpPr>
        <p:spPr>
          <a:xfrm>
            <a:off x="457200" y="1280160"/>
            <a:ext cx="5394960" cy="704088"/>
          </a:xfrm>
          <a:prstGeom prst="rect">
            <a:avLst/>
          </a:prstGeom>
          <a:noFill/>
          <a:ln/>
        </p:spPr>
        <p:txBody>
          <a:bodyPr wrap="square" lIns="0" tIns="0" rIns="0" bIns="0" rtlCol="0" anchor="t"/>
          <a:lstStyle/>
          <a:p>
            <a:pPr indent="0" marL="0">
              <a:lnSpc>
                <a:spcPct val="108000"/>
              </a:lnSpc>
              <a:buNone/>
            </a:pPr>
            <a:r>
              <a:rPr lang="en-US" sz="1050" b="1" dirty="0">
                <a:solidFill>
                  <a:srgbClr val="028090"/>
                </a:solidFill>
                <a:latin typeface="Calibri" pitchFamily="34" charset="0"/>
                <a:ea typeface="Calibri" pitchFamily="34" charset="-122"/>
                <a:cs typeface="Calibri" pitchFamily="34" charset="-120"/>
              </a:rPr>
              <a:t>EMG:  </a:t>
            </a:r>
            <a:pPr indent="0" marL="0">
              <a:lnSpc>
                <a:spcPct val="108000"/>
              </a:lnSpc>
              <a:buNone/>
            </a:pPr>
            <a:r>
              <a:rPr lang="en-US" sz="1000" dirty="0">
                <a:solidFill>
                  <a:srgbClr val="073B4C"/>
                </a:solidFill>
                <a:latin typeface="Calibri" pitchFamily="34" charset="0"/>
                <a:ea typeface="Calibri" pitchFamily="34" charset="-122"/>
                <a:cs typeface="Calibri" pitchFamily="34" charset="-120"/>
              </a:rPr>
              <a:t>Electromyography - electrical activity produced by muscle contraction, read via skin-surface electrodes.</a:t>
            </a:r>
            <a:endParaRPr lang="en-US" sz="1050" dirty="0"/>
          </a:p>
        </p:txBody>
      </p:sp>
      <p:sp>
        <p:nvSpPr>
          <p:cNvPr id="5" name="Text 3"/>
          <p:cNvSpPr txBox="1"/>
          <p:nvPr/>
        </p:nvSpPr>
        <p:spPr>
          <a:xfrm>
            <a:off x="457200" y="2057400"/>
            <a:ext cx="5394960" cy="704088"/>
          </a:xfrm>
          <a:prstGeom prst="rect">
            <a:avLst/>
          </a:prstGeom>
          <a:noFill/>
          <a:ln/>
        </p:spPr>
        <p:txBody>
          <a:bodyPr wrap="square" lIns="0" tIns="0" rIns="0" bIns="0" rtlCol="0" anchor="t"/>
          <a:lstStyle/>
          <a:p>
            <a:pPr indent="0" marL="0">
              <a:lnSpc>
                <a:spcPct val="108000"/>
              </a:lnSpc>
              <a:buNone/>
            </a:pPr>
            <a:r>
              <a:rPr lang="en-US" sz="1050" b="1" dirty="0">
                <a:solidFill>
                  <a:srgbClr val="028090"/>
                </a:solidFill>
                <a:latin typeface="Calibri" pitchFamily="34" charset="0"/>
                <a:ea typeface="Calibri" pitchFamily="34" charset="-122"/>
                <a:cs typeface="Calibri" pitchFamily="34" charset="-120"/>
              </a:rPr>
              <a:t>EHG:  </a:t>
            </a:r>
            <a:pPr indent="0" marL="0">
              <a:lnSpc>
                <a:spcPct val="108000"/>
              </a:lnSpc>
              <a:buNone/>
            </a:pPr>
            <a:r>
              <a:rPr lang="en-US" sz="1000" dirty="0">
                <a:solidFill>
                  <a:srgbClr val="073B4C"/>
                </a:solidFill>
                <a:latin typeface="Calibri" pitchFamily="34" charset="0"/>
                <a:ea typeface="Calibri" pitchFamily="34" charset="-122"/>
                <a:cs typeface="Calibri" pitchFamily="34" charset="-120"/>
              </a:rPr>
              <a:t>Electrohysterography - the clinical term for surface EMG of the uterus, read from the abdomen.</a:t>
            </a:r>
            <a:endParaRPr lang="en-US" sz="1050" dirty="0"/>
          </a:p>
        </p:txBody>
      </p:sp>
      <p:sp>
        <p:nvSpPr>
          <p:cNvPr id="6" name="Text 4"/>
          <p:cNvSpPr txBox="1"/>
          <p:nvPr/>
        </p:nvSpPr>
        <p:spPr>
          <a:xfrm>
            <a:off x="457200" y="2834640"/>
            <a:ext cx="5394960" cy="704088"/>
          </a:xfrm>
          <a:prstGeom prst="rect">
            <a:avLst/>
          </a:prstGeom>
          <a:noFill/>
          <a:ln/>
        </p:spPr>
        <p:txBody>
          <a:bodyPr wrap="square" lIns="0" tIns="0" rIns="0" bIns="0" rtlCol="0" anchor="t"/>
          <a:lstStyle/>
          <a:p>
            <a:pPr indent="0" marL="0">
              <a:lnSpc>
                <a:spcPct val="108000"/>
              </a:lnSpc>
              <a:buNone/>
            </a:pPr>
            <a:r>
              <a:rPr lang="en-US" sz="1050" b="1" dirty="0">
                <a:solidFill>
                  <a:srgbClr val="028090"/>
                </a:solidFill>
                <a:latin typeface="Calibri" pitchFamily="34" charset="0"/>
                <a:ea typeface="Calibri" pitchFamily="34" charset="-122"/>
                <a:cs typeface="Calibri" pitchFamily="34" charset="-120"/>
              </a:rPr>
              <a:t>GSR:  </a:t>
            </a:r>
            <a:pPr indent="0" marL="0">
              <a:lnSpc>
                <a:spcPct val="108000"/>
              </a:lnSpc>
              <a:buNone/>
            </a:pPr>
            <a:r>
              <a:rPr lang="en-US" sz="1000" dirty="0">
                <a:solidFill>
                  <a:srgbClr val="073B4C"/>
                </a:solidFill>
                <a:latin typeface="Calibri" pitchFamily="34" charset="0"/>
                <a:ea typeface="Calibri" pitchFamily="34" charset="-122"/>
                <a:cs typeface="Calibri" pitchFamily="34" charset="-120"/>
              </a:rPr>
              <a:t>Galvanic Skin Response - skin conductance change caused by sweat gland activity, a proxy for autonomic stress.</a:t>
            </a:r>
            <a:endParaRPr lang="en-US" sz="1050" dirty="0"/>
          </a:p>
        </p:txBody>
      </p:sp>
      <p:sp>
        <p:nvSpPr>
          <p:cNvPr id="7" name="Text 5"/>
          <p:cNvSpPr txBox="1"/>
          <p:nvPr/>
        </p:nvSpPr>
        <p:spPr>
          <a:xfrm>
            <a:off x="457200" y="3611880"/>
            <a:ext cx="5394960" cy="704088"/>
          </a:xfrm>
          <a:prstGeom prst="rect">
            <a:avLst/>
          </a:prstGeom>
          <a:noFill/>
          <a:ln/>
        </p:spPr>
        <p:txBody>
          <a:bodyPr wrap="square" lIns="0" tIns="0" rIns="0" bIns="0" rtlCol="0" anchor="t"/>
          <a:lstStyle/>
          <a:p>
            <a:pPr indent="0" marL="0">
              <a:lnSpc>
                <a:spcPct val="108000"/>
              </a:lnSpc>
              <a:buNone/>
            </a:pPr>
            <a:r>
              <a:rPr lang="en-US" sz="1050" b="1" dirty="0">
                <a:solidFill>
                  <a:srgbClr val="028090"/>
                </a:solidFill>
                <a:latin typeface="Calibri" pitchFamily="34" charset="0"/>
                <a:ea typeface="Calibri" pitchFamily="34" charset="-122"/>
                <a:cs typeface="Calibri" pitchFamily="34" charset="-120"/>
              </a:rPr>
              <a:t>IC:  </a:t>
            </a:r>
            <a:pPr indent="0" marL="0">
              <a:lnSpc>
                <a:spcPct val="108000"/>
              </a:lnSpc>
              <a:buNone/>
            </a:pPr>
            <a:r>
              <a:rPr lang="en-US" sz="1000" dirty="0">
                <a:solidFill>
                  <a:srgbClr val="073B4C"/>
                </a:solidFill>
                <a:latin typeface="Calibri" pitchFamily="34" charset="0"/>
                <a:ea typeface="Calibri" pitchFamily="34" charset="-122"/>
                <a:cs typeface="Calibri" pitchFamily="34" charset="-120"/>
              </a:rPr>
              <a:t>Integrated Circuit - a small conventional chip; the electronics module uses a hybrid IC for signal processing.</a:t>
            </a:r>
            <a:endParaRPr lang="en-US" sz="1050" dirty="0"/>
          </a:p>
        </p:txBody>
      </p:sp>
      <p:sp>
        <p:nvSpPr>
          <p:cNvPr id="8" name="Text 6"/>
          <p:cNvSpPr txBox="1"/>
          <p:nvPr/>
        </p:nvSpPr>
        <p:spPr>
          <a:xfrm>
            <a:off x="457200" y="4389120"/>
            <a:ext cx="5394960" cy="704088"/>
          </a:xfrm>
          <a:prstGeom prst="rect">
            <a:avLst/>
          </a:prstGeom>
          <a:noFill/>
          <a:ln/>
        </p:spPr>
        <p:txBody>
          <a:bodyPr wrap="square" lIns="0" tIns="0" rIns="0" bIns="0" rtlCol="0" anchor="t"/>
          <a:lstStyle/>
          <a:p>
            <a:pPr indent="0" marL="0">
              <a:lnSpc>
                <a:spcPct val="108000"/>
              </a:lnSpc>
              <a:buNone/>
            </a:pPr>
            <a:r>
              <a:rPr lang="en-US" sz="1050" b="1" dirty="0">
                <a:solidFill>
                  <a:srgbClr val="028090"/>
                </a:solidFill>
                <a:latin typeface="Calibri" pitchFamily="34" charset="0"/>
                <a:ea typeface="Calibri" pitchFamily="34" charset="-122"/>
                <a:cs typeface="Calibri" pitchFamily="34" charset="-120"/>
              </a:rPr>
              <a:t>BLE:  </a:t>
            </a:r>
            <a:pPr indent="0" marL="0">
              <a:lnSpc>
                <a:spcPct val="108000"/>
              </a:lnSpc>
              <a:buNone/>
            </a:pPr>
            <a:r>
              <a:rPr lang="en-US" sz="1000" dirty="0">
                <a:solidFill>
                  <a:srgbClr val="073B4C"/>
                </a:solidFill>
                <a:latin typeface="Calibri" pitchFamily="34" charset="0"/>
                <a:ea typeface="Calibri" pitchFamily="34" charset="-122"/>
                <a:cs typeface="Calibri" pitchFamily="34" charset="-120"/>
              </a:rPr>
              <a:t>Bluetooth Low Energy - a low-power wireless standard for syncing patch data to the app.</a:t>
            </a:r>
            <a:endParaRPr lang="en-US" sz="1050" dirty="0"/>
          </a:p>
        </p:txBody>
      </p:sp>
      <p:sp>
        <p:nvSpPr>
          <p:cNvPr id="9" name="Text 7"/>
          <p:cNvSpPr txBox="1"/>
          <p:nvPr/>
        </p:nvSpPr>
        <p:spPr>
          <a:xfrm>
            <a:off x="457200" y="5166360"/>
            <a:ext cx="5394960" cy="704088"/>
          </a:xfrm>
          <a:prstGeom prst="rect">
            <a:avLst/>
          </a:prstGeom>
          <a:noFill/>
          <a:ln/>
        </p:spPr>
        <p:txBody>
          <a:bodyPr wrap="square" lIns="0" tIns="0" rIns="0" bIns="0" rtlCol="0" anchor="t"/>
          <a:lstStyle/>
          <a:p>
            <a:pPr indent="0" marL="0">
              <a:lnSpc>
                <a:spcPct val="108000"/>
              </a:lnSpc>
              <a:buNone/>
            </a:pPr>
            <a:r>
              <a:rPr lang="en-US" sz="1050" b="1" dirty="0">
                <a:solidFill>
                  <a:srgbClr val="028090"/>
                </a:solidFill>
                <a:latin typeface="Calibri" pitchFamily="34" charset="0"/>
                <a:ea typeface="Calibri" pitchFamily="34" charset="-122"/>
                <a:cs typeface="Calibri" pitchFamily="34" charset="-120"/>
              </a:rPr>
              <a:t>R2R:  </a:t>
            </a:r>
            <a:pPr indent="0" marL="0">
              <a:lnSpc>
                <a:spcPct val="108000"/>
              </a:lnSpc>
              <a:buNone/>
            </a:pPr>
            <a:r>
              <a:rPr lang="en-US" sz="1000" dirty="0">
                <a:solidFill>
                  <a:srgbClr val="073B4C"/>
                </a:solidFill>
                <a:latin typeface="Calibri" pitchFamily="34" charset="0"/>
                <a:ea typeface="Calibri" pitchFamily="34" charset="-122"/>
                <a:cs typeface="Calibri" pitchFamily="34" charset="-120"/>
              </a:rPr>
              <a:t>Roll-to-Roll - a continuous, high-volume printing method suited to mass production.</a:t>
            </a:r>
            <a:endParaRPr lang="en-US" sz="1050" dirty="0"/>
          </a:p>
        </p:txBody>
      </p:sp>
      <p:sp>
        <p:nvSpPr>
          <p:cNvPr id="10" name="Text 8"/>
          <p:cNvSpPr txBox="1"/>
          <p:nvPr/>
        </p:nvSpPr>
        <p:spPr>
          <a:xfrm>
            <a:off x="6309360" y="1280160"/>
            <a:ext cx="5394960" cy="704088"/>
          </a:xfrm>
          <a:prstGeom prst="rect">
            <a:avLst/>
          </a:prstGeom>
          <a:noFill/>
          <a:ln/>
        </p:spPr>
        <p:txBody>
          <a:bodyPr wrap="square" lIns="0" tIns="0" rIns="0" bIns="0" rtlCol="0" anchor="t"/>
          <a:lstStyle/>
          <a:p>
            <a:pPr indent="0" marL="0">
              <a:lnSpc>
                <a:spcPct val="108000"/>
              </a:lnSpc>
              <a:buNone/>
            </a:pPr>
            <a:r>
              <a:rPr lang="en-US" sz="1050" b="1" dirty="0">
                <a:solidFill>
                  <a:srgbClr val="028090"/>
                </a:solidFill>
                <a:latin typeface="Calibri" pitchFamily="34" charset="0"/>
                <a:ea typeface="Calibri" pitchFamily="34" charset="-122"/>
                <a:cs typeface="Calibri" pitchFamily="34" charset="-120"/>
              </a:rPr>
              <a:t>PET / TPU:  </a:t>
            </a:r>
            <a:pPr indent="0" marL="0">
              <a:lnSpc>
                <a:spcPct val="108000"/>
              </a:lnSpc>
              <a:buNone/>
            </a:pPr>
            <a:r>
              <a:rPr lang="en-US" sz="1000" dirty="0">
                <a:solidFill>
                  <a:srgbClr val="073B4C"/>
                </a:solidFill>
                <a:latin typeface="Calibri" pitchFamily="34" charset="0"/>
                <a:ea typeface="Calibri" pitchFamily="34" charset="-122"/>
                <a:cs typeface="Calibri" pitchFamily="34" charset="-120"/>
              </a:rPr>
              <a:t>Polyethylene Terephthalate / Thermoplastic Polyurethane - flexible plastic substrate materials.</a:t>
            </a:r>
            <a:endParaRPr lang="en-US" sz="1050" dirty="0"/>
          </a:p>
        </p:txBody>
      </p:sp>
      <p:sp>
        <p:nvSpPr>
          <p:cNvPr id="11" name="Text 9"/>
          <p:cNvSpPr txBox="1"/>
          <p:nvPr/>
        </p:nvSpPr>
        <p:spPr>
          <a:xfrm>
            <a:off x="6309360" y="2057400"/>
            <a:ext cx="5394960" cy="704088"/>
          </a:xfrm>
          <a:prstGeom prst="rect">
            <a:avLst/>
          </a:prstGeom>
          <a:noFill/>
          <a:ln/>
        </p:spPr>
        <p:txBody>
          <a:bodyPr wrap="square" lIns="0" tIns="0" rIns="0" bIns="0" rtlCol="0" anchor="t"/>
          <a:lstStyle/>
          <a:p>
            <a:pPr indent="0" marL="0">
              <a:lnSpc>
                <a:spcPct val="108000"/>
              </a:lnSpc>
              <a:buNone/>
            </a:pPr>
            <a:r>
              <a:rPr lang="en-US" sz="1050" b="1" dirty="0">
                <a:solidFill>
                  <a:srgbClr val="028090"/>
                </a:solidFill>
                <a:latin typeface="Calibri" pitchFamily="34" charset="0"/>
                <a:ea typeface="Calibri" pitchFamily="34" charset="-122"/>
                <a:cs typeface="Calibri" pitchFamily="34" charset="-120"/>
              </a:rPr>
              <a:t>LCR meter:  </a:t>
            </a:r>
            <a:pPr indent="0" marL="0">
              <a:lnSpc>
                <a:spcPct val="108000"/>
              </a:lnSpc>
              <a:buNone/>
            </a:pPr>
            <a:r>
              <a:rPr lang="en-US" sz="1000" dirty="0">
                <a:solidFill>
                  <a:srgbClr val="073B4C"/>
                </a:solidFill>
                <a:latin typeface="Calibri" pitchFamily="34" charset="0"/>
                <a:ea typeface="Calibri" pitchFamily="34" charset="-122"/>
                <a:cs typeface="Calibri" pitchFamily="34" charset="-120"/>
              </a:rPr>
              <a:t>An instrument measuring Inductance (L), Capacitance (C), and Resistance (R) for electronics testing.</a:t>
            </a:r>
            <a:endParaRPr lang="en-US" sz="1050" dirty="0"/>
          </a:p>
        </p:txBody>
      </p:sp>
      <p:sp>
        <p:nvSpPr>
          <p:cNvPr id="12" name="Text 10"/>
          <p:cNvSpPr txBox="1"/>
          <p:nvPr/>
        </p:nvSpPr>
        <p:spPr>
          <a:xfrm>
            <a:off x="6309360" y="2834640"/>
            <a:ext cx="5394960" cy="704088"/>
          </a:xfrm>
          <a:prstGeom prst="rect">
            <a:avLst/>
          </a:prstGeom>
          <a:noFill/>
          <a:ln/>
        </p:spPr>
        <p:txBody>
          <a:bodyPr wrap="square" lIns="0" tIns="0" rIns="0" bIns="0" rtlCol="0" anchor="t"/>
          <a:lstStyle/>
          <a:p>
            <a:pPr indent="0" marL="0">
              <a:lnSpc>
                <a:spcPct val="108000"/>
              </a:lnSpc>
              <a:buNone/>
            </a:pPr>
            <a:r>
              <a:rPr lang="en-US" sz="1050" b="1" dirty="0">
                <a:solidFill>
                  <a:srgbClr val="028090"/>
                </a:solidFill>
                <a:latin typeface="Calibri" pitchFamily="34" charset="0"/>
                <a:ea typeface="Calibri" pitchFamily="34" charset="-122"/>
                <a:cs typeface="Calibri" pitchFamily="34" charset="-120"/>
              </a:rPr>
              <a:t>COGS:  </a:t>
            </a:r>
            <a:pPr indent="0" marL="0">
              <a:lnSpc>
                <a:spcPct val="108000"/>
              </a:lnSpc>
              <a:buNone/>
            </a:pPr>
            <a:r>
              <a:rPr lang="en-US" sz="1000" dirty="0">
                <a:solidFill>
                  <a:srgbClr val="073B4C"/>
                </a:solidFill>
                <a:latin typeface="Calibri" pitchFamily="34" charset="0"/>
                <a:ea typeface="Calibri" pitchFamily="34" charset="-122"/>
                <a:cs typeface="Calibri" pitchFamily="34" charset="-120"/>
              </a:rPr>
              <a:t>Cost of Goods Sold - the direct per-unit cost of manufacturing one part.</a:t>
            </a:r>
            <a:endParaRPr lang="en-US" sz="1050" dirty="0"/>
          </a:p>
        </p:txBody>
      </p:sp>
      <p:sp>
        <p:nvSpPr>
          <p:cNvPr id="13" name="Text 11"/>
          <p:cNvSpPr txBox="1"/>
          <p:nvPr/>
        </p:nvSpPr>
        <p:spPr>
          <a:xfrm>
            <a:off x="6309360" y="3611880"/>
            <a:ext cx="5394960" cy="704088"/>
          </a:xfrm>
          <a:prstGeom prst="rect">
            <a:avLst/>
          </a:prstGeom>
          <a:noFill/>
          <a:ln/>
        </p:spPr>
        <p:txBody>
          <a:bodyPr wrap="square" lIns="0" tIns="0" rIns="0" bIns="0" rtlCol="0" anchor="t"/>
          <a:lstStyle/>
          <a:p>
            <a:pPr indent="0" marL="0">
              <a:lnSpc>
                <a:spcPct val="108000"/>
              </a:lnSpc>
              <a:buNone/>
            </a:pPr>
            <a:r>
              <a:rPr lang="en-US" sz="1050" b="1" dirty="0">
                <a:solidFill>
                  <a:srgbClr val="028090"/>
                </a:solidFill>
                <a:latin typeface="Calibri" pitchFamily="34" charset="0"/>
                <a:ea typeface="Calibri" pitchFamily="34" charset="-122"/>
                <a:cs typeface="Calibri" pitchFamily="34" charset="-120"/>
              </a:rPr>
              <a:t>ARR:  </a:t>
            </a:r>
            <a:pPr indent="0" marL="0">
              <a:lnSpc>
                <a:spcPct val="108000"/>
              </a:lnSpc>
              <a:buNone/>
            </a:pPr>
            <a:r>
              <a:rPr lang="en-US" sz="1000" dirty="0">
                <a:solidFill>
                  <a:srgbClr val="073B4C"/>
                </a:solidFill>
                <a:latin typeface="Calibri" pitchFamily="34" charset="0"/>
                <a:ea typeface="Calibri" pitchFamily="34" charset="-122"/>
                <a:cs typeface="Calibri" pitchFamily="34" charset="-120"/>
              </a:rPr>
              <a:t>Annual Recurring Revenue - predictable yearly subscription revenue.</a:t>
            </a:r>
            <a:endParaRPr lang="en-US" sz="1050" dirty="0"/>
          </a:p>
        </p:txBody>
      </p:sp>
      <p:sp>
        <p:nvSpPr>
          <p:cNvPr id="14" name="Text 12"/>
          <p:cNvSpPr txBox="1"/>
          <p:nvPr/>
        </p:nvSpPr>
        <p:spPr>
          <a:xfrm>
            <a:off x="6309360" y="4389120"/>
            <a:ext cx="5394960" cy="704088"/>
          </a:xfrm>
          <a:prstGeom prst="rect">
            <a:avLst/>
          </a:prstGeom>
          <a:noFill/>
          <a:ln/>
        </p:spPr>
        <p:txBody>
          <a:bodyPr wrap="square" lIns="0" tIns="0" rIns="0" bIns="0" rtlCol="0" anchor="t"/>
          <a:lstStyle/>
          <a:p>
            <a:pPr indent="0" marL="0">
              <a:lnSpc>
                <a:spcPct val="108000"/>
              </a:lnSpc>
              <a:buNone/>
            </a:pPr>
            <a:r>
              <a:rPr lang="en-US" sz="1050" b="1" dirty="0">
                <a:solidFill>
                  <a:srgbClr val="028090"/>
                </a:solidFill>
                <a:latin typeface="Calibri" pitchFamily="34" charset="0"/>
                <a:ea typeface="Calibri" pitchFamily="34" charset="-122"/>
                <a:cs typeface="Calibri" pitchFamily="34" charset="-120"/>
              </a:rPr>
              <a:t>B2C:  </a:t>
            </a:r>
            <a:pPr indent="0" marL="0">
              <a:lnSpc>
                <a:spcPct val="108000"/>
              </a:lnSpc>
              <a:buNone/>
            </a:pPr>
            <a:r>
              <a:rPr lang="en-US" sz="1000" dirty="0">
                <a:solidFill>
                  <a:srgbClr val="073B4C"/>
                </a:solidFill>
                <a:latin typeface="Calibri" pitchFamily="34" charset="0"/>
                <a:ea typeface="Calibri" pitchFamily="34" charset="-122"/>
                <a:cs typeface="Calibri" pitchFamily="34" charset="-120"/>
              </a:rPr>
              <a:t>Business-to-Consumer - selling directly to individual end users.</a:t>
            </a:r>
            <a:endParaRPr lang="en-US" sz="1050" dirty="0"/>
          </a:p>
        </p:txBody>
      </p:sp>
      <p:sp>
        <p:nvSpPr>
          <p:cNvPr id="15" name="Text 13"/>
          <p:cNvSpPr txBox="1"/>
          <p:nvPr/>
        </p:nvSpPr>
        <p:spPr>
          <a:xfrm>
            <a:off x="6309360" y="5166360"/>
            <a:ext cx="5394960" cy="704088"/>
          </a:xfrm>
          <a:prstGeom prst="rect">
            <a:avLst/>
          </a:prstGeom>
          <a:noFill/>
          <a:ln/>
        </p:spPr>
        <p:txBody>
          <a:bodyPr wrap="square" lIns="0" tIns="0" rIns="0" bIns="0" rtlCol="0" anchor="t"/>
          <a:lstStyle/>
          <a:p>
            <a:pPr indent="0" marL="0">
              <a:lnSpc>
                <a:spcPct val="108000"/>
              </a:lnSpc>
              <a:buNone/>
            </a:pPr>
            <a:r>
              <a:rPr lang="en-US" sz="1050" b="1" dirty="0">
                <a:solidFill>
                  <a:srgbClr val="028090"/>
                </a:solidFill>
                <a:latin typeface="Calibri" pitchFamily="34" charset="0"/>
                <a:ea typeface="Calibri" pitchFamily="34" charset="-122"/>
                <a:cs typeface="Calibri" pitchFamily="34" charset="-120"/>
              </a:rPr>
              <a:t>PrinLab:  </a:t>
            </a:r>
            <a:pPr indent="0" marL="0">
              <a:lnSpc>
                <a:spcPct val="108000"/>
              </a:lnSpc>
              <a:buNone/>
            </a:pPr>
            <a:r>
              <a:rPr lang="en-US" sz="1000" dirty="0">
                <a:solidFill>
                  <a:srgbClr val="073B4C"/>
                </a:solidFill>
                <a:latin typeface="Calibri" pitchFamily="34" charset="0"/>
                <a:ea typeface="Calibri" pitchFamily="34" charset="-122"/>
                <a:cs typeface="Calibri" pitchFamily="34" charset="-120"/>
              </a:rPr>
              <a:t>OAMK's printed electronics pilot fabrication and testing lab, part of the InnoFest first-prize support.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4572000" cy="457200"/>
          </a:xfrm>
          <a:prstGeom prst="rect">
            <a:avLst/>
          </a:prstGeom>
          <a:noFill/>
          <a:ln/>
        </p:spPr>
        <p:txBody>
          <a:bodyPr wrap="square" lIns="0" tIns="0" rIns="0" bIns="0" rtlCol="0" anchor="ctr"/>
          <a:lstStyle/>
          <a:p>
            <a:pPr indent="0" marL="0">
              <a:buNone/>
            </a:pPr>
            <a:r>
              <a:rPr lang="en-US" sz="2400" b="1" dirty="0">
                <a:solidFill>
                  <a:srgbClr val="073B4C"/>
                </a:solidFill>
                <a:latin typeface="Cambria" pitchFamily="34" charset="0"/>
                <a:ea typeface="Cambria" pitchFamily="34" charset="-122"/>
                <a:cs typeface="Cambria" pitchFamily="34" charset="-120"/>
              </a:rPr>
              <a:t>FLEXICURE</a:t>
            </a:r>
            <a:endParaRPr lang="en-US" sz="2400" dirty="0"/>
          </a:p>
        </p:txBody>
      </p:sp>
      <p:sp>
        <p:nvSpPr>
          <p:cNvPr id="3" name="Text 1"/>
          <p:cNvSpPr txBox="1"/>
          <p:nvPr/>
        </p:nvSpPr>
        <p:spPr>
          <a:xfrm>
            <a:off x="457200" y="658368"/>
            <a:ext cx="4572000" cy="320040"/>
          </a:xfrm>
          <a:prstGeom prst="rect">
            <a:avLst/>
          </a:prstGeom>
          <a:noFill/>
          <a:ln/>
        </p:spPr>
        <p:txBody>
          <a:bodyPr wrap="square" lIns="0" tIns="0" rIns="0" bIns="0" rtlCol="0" anchor="ctr"/>
          <a:lstStyle/>
          <a:p>
            <a:pPr indent="0" marL="0">
              <a:buNone/>
            </a:pPr>
            <a:r>
              <a:rPr lang="en-US" sz="1300" dirty="0">
                <a:solidFill>
                  <a:srgbClr val="5C7A78"/>
                </a:solidFill>
                <a:latin typeface="Calibri" pitchFamily="34" charset="0"/>
                <a:ea typeface="Calibri" pitchFamily="34" charset="-122"/>
                <a:cs typeface="Calibri" pitchFamily="34" charset="-120"/>
              </a:rPr>
              <a:t>Lean Canvas - FlexiCure</a:t>
            </a:r>
            <a:endParaRPr lang="en-US" sz="1300" dirty="0"/>
          </a:p>
        </p:txBody>
      </p:sp>
      <p:sp>
        <p:nvSpPr>
          <p:cNvPr id="4" name="Text 2"/>
          <p:cNvSpPr txBox="1"/>
          <p:nvPr/>
        </p:nvSpPr>
        <p:spPr>
          <a:xfrm>
            <a:off x="8046720" y="292608"/>
            <a:ext cx="3657600" cy="274320"/>
          </a:xfrm>
          <a:prstGeom prst="rect">
            <a:avLst/>
          </a:prstGeom>
          <a:noFill/>
          <a:ln/>
        </p:spPr>
        <p:txBody>
          <a:bodyPr wrap="square" lIns="0" tIns="0" rIns="0" bIns="0" rtlCol="0" anchor="ctr"/>
          <a:lstStyle/>
          <a:p>
            <a:pPr algn="r" indent="0" marL="0">
              <a:buNone/>
            </a:pPr>
            <a:r>
              <a:rPr lang="en-US" sz="1100" dirty="0">
                <a:solidFill>
                  <a:srgbClr val="5C7A78"/>
                </a:solidFill>
                <a:latin typeface="Calibri" pitchFamily="34" charset="0"/>
                <a:ea typeface="Calibri" pitchFamily="34" charset="-122"/>
                <a:cs typeface="Calibri" pitchFamily="34" charset="-120"/>
              </a:rPr>
              <a:t>PrintoCent InnoFest 2026</a:t>
            </a:r>
            <a:endParaRPr lang="en-US" sz="1100" dirty="0"/>
          </a:p>
        </p:txBody>
      </p:sp>
      <p:sp>
        <p:nvSpPr>
          <p:cNvPr id="5" name="Text 3"/>
          <p:cNvSpPr txBox="1"/>
          <p:nvPr/>
        </p:nvSpPr>
        <p:spPr>
          <a:xfrm>
            <a:off x="8046720" y="548640"/>
            <a:ext cx="3657600" cy="274320"/>
          </a:xfrm>
          <a:prstGeom prst="rect">
            <a:avLst/>
          </a:prstGeom>
          <a:noFill/>
          <a:ln/>
        </p:spPr>
        <p:txBody>
          <a:bodyPr wrap="square" lIns="0" tIns="0" rIns="0" bIns="0" rtlCol="0" anchor="ctr"/>
          <a:lstStyle/>
          <a:p>
            <a:pPr algn="r" indent="0" marL="0">
              <a:buNone/>
            </a:pPr>
            <a:r>
              <a:rPr lang="en-US" sz="1100" b="1" dirty="0">
                <a:solidFill>
                  <a:srgbClr val="028090"/>
                </a:solidFill>
                <a:latin typeface="Calibri" pitchFamily="34" charset="0"/>
                <a:ea typeface="Calibri" pitchFamily="34" charset="-122"/>
                <a:cs typeface="Calibri" pitchFamily="34" charset="-120"/>
              </a:rPr>
              <a:t>Iteration #6 - Final</a:t>
            </a:r>
            <a:endParaRPr lang="en-US" sz="1100" dirty="0"/>
          </a:p>
        </p:txBody>
      </p:sp>
      <p:sp>
        <p:nvSpPr>
          <p:cNvPr id="6" name="Shape 4"/>
          <p:cNvSpPr/>
          <p:nvPr/>
        </p:nvSpPr>
        <p:spPr>
          <a:xfrm>
            <a:off x="457200" y="1097280"/>
            <a:ext cx="2249424" cy="2286000"/>
          </a:xfrm>
          <a:prstGeom prst="rect">
            <a:avLst/>
          </a:prstGeom>
          <a:solidFill>
            <a:srgbClr val="F4FAF9"/>
          </a:solidFill>
          <a:ln w="12700">
            <a:solidFill>
              <a:srgbClr val="CFE3E1"/>
            </a:solidFill>
            <a:prstDash val="solid"/>
          </a:ln>
        </p:spPr>
      </p:sp>
      <p:sp>
        <p:nvSpPr>
          <p:cNvPr id="7" name="Shape 5"/>
          <p:cNvSpPr/>
          <p:nvPr/>
        </p:nvSpPr>
        <p:spPr>
          <a:xfrm>
            <a:off x="530352" y="1170432"/>
            <a:ext cx="256032" cy="256032"/>
          </a:xfrm>
          <a:prstGeom prst="ellipse">
            <a:avLst/>
          </a:prstGeom>
          <a:solidFill>
            <a:srgbClr val="028090"/>
          </a:solidFill>
          <a:ln/>
        </p:spPr>
      </p:sp>
      <p:sp>
        <p:nvSpPr>
          <p:cNvPr id="8" name="Text 6"/>
          <p:cNvSpPr txBox="1"/>
          <p:nvPr/>
        </p:nvSpPr>
        <p:spPr>
          <a:xfrm>
            <a:off x="530352" y="11704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841248" y="11612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Problem</a:t>
            </a:r>
            <a:endParaRPr lang="en-US" sz="1050" dirty="0"/>
          </a:p>
        </p:txBody>
      </p:sp>
      <p:sp>
        <p:nvSpPr>
          <p:cNvPr id="10" name="Text 8"/>
          <p:cNvSpPr txBox="1"/>
          <p:nvPr/>
        </p:nvSpPr>
        <p:spPr>
          <a:xfrm>
            <a:off x="594360" y="1463040"/>
            <a:ext cx="1975104" cy="18288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Abdominal muscle tension &amp; menstrual cramping are managed by guesswork - no objective sense of building tension</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Pelvic floor trainers exist, but sense a different muscle group and require internal insertion</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Nothing external senses abdominal tension and responds with relief automatically</a:t>
            </a:r>
            <a:endParaRPr lang="en-US" sz="800" dirty="0"/>
          </a:p>
        </p:txBody>
      </p:sp>
      <p:sp>
        <p:nvSpPr>
          <p:cNvPr id="11" name="Shape 9"/>
          <p:cNvSpPr/>
          <p:nvPr/>
        </p:nvSpPr>
        <p:spPr>
          <a:xfrm>
            <a:off x="457200" y="3383280"/>
            <a:ext cx="2249424" cy="914400"/>
          </a:xfrm>
          <a:prstGeom prst="rect">
            <a:avLst/>
          </a:prstGeom>
          <a:solidFill>
            <a:srgbClr val="FFFFFF"/>
          </a:solidFill>
          <a:ln w="12700">
            <a:solidFill>
              <a:srgbClr val="CFE3E1"/>
            </a:solidFill>
            <a:prstDash val="solid"/>
          </a:ln>
        </p:spPr>
      </p:sp>
      <p:sp>
        <p:nvSpPr>
          <p:cNvPr id="12" name="Text 10"/>
          <p:cNvSpPr txBox="1"/>
          <p:nvPr/>
        </p:nvSpPr>
        <p:spPr>
          <a:xfrm>
            <a:off x="594360" y="3447288"/>
            <a:ext cx="19751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Existing Alternative</a:t>
            </a:r>
            <a:endParaRPr lang="en-US" sz="1050" dirty="0"/>
          </a:p>
        </p:txBody>
      </p:sp>
      <p:sp>
        <p:nvSpPr>
          <p:cNvPr id="13" name="Text 11"/>
          <p:cNvSpPr txBox="1"/>
          <p:nvPr/>
        </p:nvSpPr>
        <p:spPr>
          <a:xfrm>
            <a:off x="594360" y="3749040"/>
            <a:ext cx="1975104" cy="4572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Heat wraps &amp; painkillers, applied on a guess; period apps log dates only, no sensing</a:t>
            </a:r>
            <a:endParaRPr lang="en-US" sz="800" dirty="0"/>
          </a:p>
        </p:txBody>
      </p:sp>
      <p:sp>
        <p:nvSpPr>
          <p:cNvPr id="14" name="Shape 12"/>
          <p:cNvSpPr/>
          <p:nvPr/>
        </p:nvSpPr>
        <p:spPr>
          <a:xfrm>
            <a:off x="2706624" y="1097280"/>
            <a:ext cx="2249424" cy="1600200"/>
          </a:xfrm>
          <a:prstGeom prst="rect">
            <a:avLst/>
          </a:prstGeom>
          <a:solidFill>
            <a:srgbClr val="F4FAF9"/>
          </a:solidFill>
          <a:ln w="12700">
            <a:solidFill>
              <a:srgbClr val="CFE3E1"/>
            </a:solidFill>
            <a:prstDash val="solid"/>
          </a:ln>
        </p:spPr>
      </p:sp>
      <p:sp>
        <p:nvSpPr>
          <p:cNvPr id="15" name="Shape 13"/>
          <p:cNvSpPr/>
          <p:nvPr/>
        </p:nvSpPr>
        <p:spPr>
          <a:xfrm>
            <a:off x="2779776" y="1170432"/>
            <a:ext cx="256032" cy="256032"/>
          </a:xfrm>
          <a:prstGeom prst="ellipse">
            <a:avLst/>
          </a:prstGeom>
          <a:solidFill>
            <a:srgbClr val="028090"/>
          </a:solidFill>
          <a:ln/>
        </p:spPr>
      </p:sp>
      <p:sp>
        <p:nvSpPr>
          <p:cNvPr id="16" name="Text 14"/>
          <p:cNvSpPr txBox="1"/>
          <p:nvPr/>
        </p:nvSpPr>
        <p:spPr>
          <a:xfrm>
            <a:off x="2779776" y="11704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txBox="1"/>
          <p:nvPr/>
        </p:nvSpPr>
        <p:spPr>
          <a:xfrm>
            <a:off x="3090672" y="11612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Solution</a:t>
            </a:r>
            <a:endParaRPr lang="en-US" sz="1050" dirty="0"/>
          </a:p>
        </p:txBody>
      </p:sp>
      <p:sp>
        <p:nvSpPr>
          <p:cNvPr id="18" name="Text 16"/>
          <p:cNvSpPr txBox="1"/>
          <p:nvPr/>
        </p:nvSpPr>
        <p:spPr>
          <a:xfrm>
            <a:off x="2843784" y="1463040"/>
            <a:ext cx="1975104" cy="11430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750" dirty="0">
                <a:solidFill>
                  <a:srgbClr val="073B4C"/>
                </a:solidFill>
                <a:latin typeface="Calibri" pitchFamily="34" charset="0"/>
                <a:ea typeface="Calibri" pitchFamily="34" charset="-122"/>
                <a:cs typeface="Calibri" pitchFamily="34" charset="-120"/>
              </a:rPr>
              <a:t>Two-part patch: rechargeable electronics module + disposable attachable part</a:t>
            </a:r>
            <a:endParaRPr lang="en-US" sz="750" dirty="0"/>
          </a:p>
          <a:p>
            <a:pPr marL="127000" indent="-127000">
              <a:lnSpc>
                <a:spcPct val="105000"/>
              </a:lnSpc>
              <a:spcAft>
                <a:spcPts val="400"/>
              </a:spcAft>
              <a:buSzPct val="100000"/>
              <a:buChar char="•"/>
            </a:pPr>
            <a:r>
              <a:rPr lang="en-US" sz="750" dirty="0">
                <a:solidFill>
                  <a:srgbClr val="073B4C"/>
                </a:solidFill>
                <a:latin typeface="Calibri" pitchFamily="34" charset="0"/>
                <a:ea typeface="Calibri" pitchFamily="34" charset="-122"/>
                <a:cs typeface="Calibri" pitchFamily="34" charset="-120"/>
              </a:rPr>
              <a:t>Senses abdominal EMG, GSR, strain; auto-triggers heat via the attachable part</a:t>
            </a:r>
            <a:endParaRPr lang="en-US" sz="750" dirty="0"/>
          </a:p>
          <a:p>
            <a:pPr marL="127000" indent="-127000">
              <a:lnSpc>
                <a:spcPct val="105000"/>
              </a:lnSpc>
              <a:spcAft>
                <a:spcPts val="400"/>
              </a:spcAft>
              <a:buSzPct val="100000"/>
              <a:buChar char="•"/>
            </a:pPr>
            <a:r>
              <a:rPr lang="en-US" sz="750" dirty="0">
                <a:solidFill>
                  <a:srgbClr val="073B4C"/>
                </a:solidFill>
                <a:latin typeface="Calibri" pitchFamily="34" charset="0"/>
                <a:ea typeface="Calibri" pitchFamily="34" charset="-122"/>
                <a:cs typeface="Calibri" pitchFamily="34" charset="-120"/>
              </a:rPr>
              <a:t>Comfort Check + Period Log personalize the trigger over time</a:t>
            </a:r>
            <a:endParaRPr lang="en-US" sz="750" dirty="0"/>
          </a:p>
        </p:txBody>
      </p:sp>
      <p:sp>
        <p:nvSpPr>
          <p:cNvPr id="19" name="Shape 17"/>
          <p:cNvSpPr/>
          <p:nvPr/>
        </p:nvSpPr>
        <p:spPr>
          <a:xfrm>
            <a:off x="2706624" y="2697480"/>
            <a:ext cx="2249424" cy="1600200"/>
          </a:xfrm>
          <a:prstGeom prst="rect">
            <a:avLst/>
          </a:prstGeom>
          <a:solidFill>
            <a:srgbClr val="F4FAF9"/>
          </a:solidFill>
          <a:ln w="12700">
            <a:solidFill>
              <a:srgbClr val="CFE3E1"/>
            </a:solidFill>
            <a:prstDash val="solid"/>
          </a:ln>
        </p:spPr>
      </p:sp>
      <p:sp>
        <p:nvSpPr>
          <p:cNvPr id="20" name="Shape 18"/>
          <p:cNvSpPr/>
          <p:nvPr/>
        </p:nvSpPr>
        <p:spPr>
          <a:xfrm>
            <a:off x="2779776" y="2770632"/>
            <a:ext cx="256032" cy="256032"/>
          </a:xfrm>
          <a:prstGeom prst="ellipse">
            <a:avLst/>
          </a:prstGeom>
          <a:solidFill>
            <a:srgbClr val="028090"/>
          </a:solidFill>
          <a:ln/>
        </p:spPr>
      </p:sp>
      <p:sp>
        <p:nvSpPr>
          <p:cNvPr id="21" name="Text 19"/>
          <p:cNvSpPr txBox="1"/>
          <p:nvPr/>
        </p:nvSpPr>
        <p:spPr>
          <a:xfrm>
            <a:off x="2779776" y="27706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2" name="Text 20"/>
          <p:cNvSpPr txBox="1"/>
          <p:nvPr/>
        </p:nvSpPr>
        <p:spPr>
          <a:xfrm>
            <a:off x="3090672" y="27614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Key Metrics</a:t>
            </a:r>
            <a:endParaRPr lang="en-US" sz="1050" dirty="0"/>
          </a:p>
        </p:txBody>
      </p:sp>
      <p:sp>
        <p:nvSpPr>
          <p:cNvPr id="23" name="Text 21"/>
          <p:cNvSpPr txBox="1"/>
          <p:nvPr/>
        </p:nvSpPr>
        <p:spPr>
          <a:xfrm>
            <a:off x="2843784" y="3063240"/>
            <a:ext cx="1975104" cy="11430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EMG tension-signal correlation with Comfort Check taps</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Comfort Check + Period Log engagement rate</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Attachable-part reorder rate; module battery life vs. 7-day claim</a:t>
            </a:r>
            <a:endParaRPr lang="en-US" sz="800" dirty="0"/>
          </a:p>
        </p:txBody>
      </p:sp>
      <p:sp>
        <p:nvSpPr>
          <p:cNvPr id="24" name="Shape 22"/>
          <p:cNvSpPr/>
          <p:nvPr/>
        </p:nvSpPr>
        <p:spPr>
          <a:xfrm>
            <a:off x="4956048" y="1097280"/>
            <a:ext cx="2249424" cy="3200400"/>
          </a:xfrm>
          <a:prstGeom prst="rect">
            <a:avLst/>
          </a:prstGeom>
          <a:solidFill>
            <a:srgbClr val="E4F5F3"/>
          </a:solidFill>
          <a:ln w="12700">
            <a:solidFill>
              <a:srgbClr val="CFE3E1"/>
            </a:solidFill>
            <a:prstDash val="solid"/>
          </a:ln>
        </p:spPr>
      </p:sp>
      <p:sp>
        <p:nvSpPr>
          <p:cNvPr id="25" name="Shape 23"/>
          <p:cNvSpPr/>
          <p:nvPr/>
        </p:nvSpPr>
        <p:spPr>
          <a:xfrm>
            <a:off x="5029200" y="1170432"/>
            <a:ext cx="256032" cy="256032"/>
          </a:xfrm>
          <a:prstGeom prst="ellipse">
            <a:avLst/>
          </a:prstGeom>
          <a:solidFill>
            <a:srgbClr val="028090"/>
          </a:solidFill>
          <a:ln/>
        </p:spPr>
      </p:sp>
      <p:sp>
        <p:nvSpPr>
          <p:cNvPr id="26" name="Text 24"/>
          <p:cNvSpPr txBox="1"/>
          <p:nvPr/>
        </p:nvSpPr>
        <p:spPr>
          <a:xfrm>
            <a:off x="5029200" y="11704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Text 25"/>
          <p:cNvSpPr txBox="1"/>
          <p:nvPr/>
        </p:nvSpPr>
        <p:spPr>
          <a:xfrm>
            <a:off x="5340096" y="11612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Unique Value Proposition</a:t>
            </a:r>
            <a:endParaRPr lang="en-US" sz="1050" dirty="0"/>
          </a:p>
        </p:txBody>
      </p:sp>
      <p:sp>
        <p:nvSpPr>
          <p:cNvPr id="28" name="Text 26"/>
          <p:cNvSpPr txBox="1"/>
          <p:nvPr/>
        </p:nvSpPr>
        <p:spPr>
          <a:xfrm>
            <a:off x="5093208" y="1463040"/>
            <a:ext cx="1975104" cy="27432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External, non-insertable - senses abdominal muscle tension directly, competitors sense a different muscle group internally</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Learns each user's own comfort pattern through one-tap logging, not a fixed threshold</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Two-part hardware keeps ongoing cost low: one module, cheap disposable refills</a:t>
            </a:r>
            <a:endParaRPr lang="en-US" sz="800" dirty="0"/>
          </a:p>
        </p:txBody>
      </p:sp>
      <p:sp>
        <p:nvSpPr>
          <p:cNvPr id="29" name="Shape 27"/>
          <p:cNvSpPr/>
          <p:nvPr/>
        </p:nvSpPr>
        <p:spPr>
          <a:xfrm>
            <a:off x="7205472" y="1097280"/>
            <a:ext cx="2249424" cy="1600200"/>
          </a:xfrm>
          <a:prstGeom prst="rect">
            <a:avLst/>
          </a:prstGeom>
          <a:solidFill>
            <a:srgbClr val="F4FAF9"/>
          </a:solidFill>
          <a:ln w="12700">
            <a:solidFill>
              <a:srgbClr val="CFE3E1"/>
            </a:solidFill>
            <a:prstDash val="solid"/>
          </a:ln>
        </p:spPr>
      </p:sp>
      <p:sp>
        <p:nvSpPr>
          <p:cNvPr id="30" name="Shape 28"/>
          <p:cNvSpPr/>
          <p:nvPr/>
        </p:nvSpPr>
        <p:spPr>
          <a:xfrm>
            <a:off x="7278624" y="1170432"/>
            <a:ext cx="256032" cy="256032"/>
          </a:xfrm>
          <a:prstGeom prst="ellipse">
            <a:avLst/>
          </a:prstGeom>
          <a:solidFill>
            <a:srgbClr val="028090"/>
          </a:solidFill>
          <a:ln/>
        </p:spPr>
      </p:sp>
      <p:sp>
        <p:nvSpPr>
          <p:cNvPr id="31" name="Text 29"/>
          <p:cNvSpPr txBox="1"/>
          <p:nvPr/>
        </p:nvSpPr>
        <p:spPr>
          <a:xfrm>
            <a:off x="7278624" y="11704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32" name="Text 30"/>
          <p:cNvSpPr txBox="1"/>
          <p:nvPr/>
        </p:nvSpPr>
        <p:spPr>
          <a:xfrm>
            <a:off x="7589520" y="11612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Unfair Advantage</a:t>
            </a:r>
            <a:endParaRPr lang="en-US" sz="1050" dirty="0"/>
          </a:p>
        </p:txBody>
      </p:sp>
      <p:sp>
        <p:nvSpPr>
          <p:cNvPr id="33" name="Text 31"/>
          <p:cNvSpPr txBox="1"/>
          <p:nvPr/>
        </p:nvSpPr>
        <p:spPr>
          <a:xfrm>
            <a:off x="7342632" y="1463040"/>
            <a:ext cx="1975104" cy="11430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Team's biomedical signal-analysis background, directly applicable to EMG interpretation</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University of Oulu research network</a:t>
            </a:r>
            <a:endParaRPr lang="en-US" sz="800" dirty="0"/>
          </a:p>
        </p:txBody>
      </p:sp>
      <p:sp>
        <p:nvSpPr>
          <p:cNvPr id="34" name="Shape 32"/>
          <p:cNvSpPr/>
          <p:nvPr/>
        </p:nvSpPr>
        <p:spPr>
          <a:xfrm>
            <a:off x="7205472" y="2697480"/>
            <a:ext cx="2249424" cy="1600200"/>
          </a:xfrm>
          <a:prstGeom prst="rect">
            <a:avLst/>
          </a:prstGeom>
          <a:solidFill>
            <a:srgbClr val="F4FAF9"/>
          </a:solidFill>
          <a:ln w="12700">
            <a:solidFill>
              <a:srgbClr val="CFE3E1"/>
            </a:solidFill>
            <a:prstDash val="solid"/>
          </a:ln>
        </p:spPr>
      </p:sp>
      <p:sp>
        <p:nvSpPr>
          <p:cNvPr id="35" name="Shape 33"/>
          <p:cNvSpPr/>
          <p:nvPr/>
        </p:nvSpPr>
        <p:spPr>
          <a:xfrm>
            <a:off x="7278624" y="2770632"/>
            <a:ext cx="256032" cy="256032"/>
          </a:xfrm>
          <a:prstGeom prst="ellipse">
            <a:avLst/>
          </a:prstGeom>
          <a:solidFill>
            <a:srgbClr val="028090"/>
          </a:solidFill>
          <a:ln/>
        </p:spPr>
      </p:sp>
      <p:sp>
        <p:nvSpPr>
          <p:cNvPr id="36" name="Text 34"/>
          <p:cNvSpPr txBox="1"/>
          <p:nvPr/>
        </p:nvSpPr>
        <p:spPr>
          <a:xfrm>
            <a:off x="7278624" y="27706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7" name="Text 35"/>
          <p:cNvSpPr txBox="1"/>
          <p:nvPr/>
        </p:nvSpPr>
        <p:spPr>
          <a:xfrm>
            <a:off x="7589520" y="27614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Channels</a:t>
            </a:r>
            <a:endParaRPr lang="en-US" sz="1050" dirty="0"/>
          </a:p>
        </p:txBody>
      </p:sp>
      <p:sp>
        <p:nvSpPr>
          <p:cNvPr id="38" name="Text 36"/>
          <p:cNvSpPr txBox="1"/>
          <p:nvPr/>
        </p:nvSpPr>
        <p:spPr>
          <a:xfrm>
            <a:off x="7342632" y="3063240"/>
            <a:ext cx="1975104" cy="11430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Direct-to-consumer online - the channel already proven for this buyer</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Retail alongside women's wellness products</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InnoFest jury network</a:t>
            </a:r>
            <a:endParaRPr lang="en-US" sz="800" dirty="0"/>
          </a:p>
        </p:txBody>
      </p:sp>
      <p:sp>
        <p:nvSpPr>
          <p:cNvPr id="39" name="Shape 37"/>
          <p:cNvSpPr/>
          <p:nvPr/>
        </p:nvSpPr>
        <p:spPr>
          <a:xfrm>
            <a:off x="9454896" y="1097280"/>
            <a:ext cx="2249424" cy="2286000"/>
          </a:xfrm>
          <a:prstGeom prst="rect">
            <a:avLst/>
          </a:prstGeom>
          <a:solidFill>
            <a:srgbClr val="F4FAF9"/>
          </a:solidFill>
          <a:ln w="12700">
            <a:solidFill>
              <a:srgbClr val="CFE3E1"/>
            </a:solidFill>
            <a:prstDash val="solid"/>
          </a:ln>
        </p:spPr>
      </p:sp>
      <p:sp>
        <p:nvSpPr>
          <p:cNvPr id="40" name="Shape 38"/>
          <p:cNvSpPr/>
          <p:nvPr/>
        </p:nvSpPr>
        <p:spPr>
          <a:xfrm>
            <a:off x="9528048" y="1170432"/>
            <a:ext cx="256032" cy="256032"/>
          </a:xfrm>
          <a:prstGeom prst="ellipse">
            <a:avLst/>
          </a:prstGeom>
          <a:solidFill>
            <a:srgbClr val="028090"/>
          </a:solidFill>
          <a:ln/>
        </p:spPr>
      </p:sp>
      <p:sp>
        <p:nvSpPr>
          <p:cNvPr id="41" name="Text 39"/>
          <p:cNvSpPr txBox="1"/>
          <p:nvPr/>
        </p:nvSpPr>
        <p:spPr>
          <a:xfrm>
            <a:off x="9528048" y="11704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40"/>
          <p:cNvSpPr txBox="1"/>
          <p:nvPr/>
        </p:nvSpPr>
        <p:spPr>
          <a:xfrm>
            <a:off x="9838944" y="1161288"/>
            <a:ext cx="17465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Customer Segments</a:t>
            </a:r>
            <a:endParaRPr lang="en-US" sz="1050" dirty="0"/>
          </a:p>
        </p:txBody>
      </p:sp>
      <p:sp>
        <p:nvSpPr>
          <p:cNvPr id="43" name="Text 41"/>
          <p:cNvSpPr txBox="1"/>
          <p:nvPr/>
        </p:nvSpPr>
        <p:spPr>
          <a:xfrm>
            <a:off x="9592056" y="1463040"/>
            <a:ext cx="1975104" cy="18288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Women managing menstrual cramping or abdominal muscle tension</a:t>
            </a:r>
            <a:endParaRPr lang="en-US" sz="800" dirty="0"/>
          </a:p>
          <a:p>
            <a:pPr marL="127000" indent="-127000">
              <a:lnSpc>
                <a:spcPct val="105000"/>
              </a:lnSpc>
              <a:spcAft>
                <a:spcPts val="400"/>
              </a:spcAft>
              <a:buSzPct val="100000"/>
              <a:buChar char="•"/>
            </a:pPr>
            <a:r>
              <a:rPr lang="en-US" sz="800" dirty="0">
                <a:solidFill>
                  <a:srgbClr val="073B4C"/>
                </a:solidFill>
                <a:latin typeface="Calibri" pitchFamily="34" charset="0"/>
                <a:ea typeface="Calibri" pitchFamily="34" charset="-122"/>
                <a:cs typeface="Calibri" pitchFamily="34" charset="-120"/>
              </a:rPr>
              <a:t>Early adopters: women already spending EUR 99-199 on insertable pelvic trainers who want a non-insertable option</a:t>
            </a:r>
            <a:endParaRPr lang="en-US" sz="800" dirty="0"/>
          </a:p>
        </p:txBody>
      </p:sp>
      <p:sp>
        <p:nvSpPr>
          <p:cNvPr id="44" name="Shape 42"/>
          <p:cNvSpPr/>
          <p:nvPr/>
        </p:nvSpPr>
        <p:spPr>
          <a:xfrm>
            <a:off x="9454896" y="3383280"/>
            <a:ext cx="2249424" cy="914400"/>
          </a:xfrm>
          <a:prstGeom prst="rect">
            <a:avLst/>
          </a:prstGeom>
          <a:solidFill>
            <a:srgbClr val="FFFFFF"/>
          </a:solidFill>
          <a:ln w="12700">
            <a:solidFill>
              <a:srgbClr val="CFE3E1"/>
            </a:solidFill>
            <a:prstDash val="solid"/>
          </a:ln>
        </p:spPr>
      </p:sp>
      <p:sp>
        <p:nvSpPr>
          <p:cNvPr id="45" name="Text 43"/>
          <p:cNvSpPr txBox="1"/>
          <p:nvPr/>
        </p:nvSpPr>
        <p:spPr>
          <a:xfrm>
            <a:off x="9592056" y="3447288"/>
            <a:ext cx="1975104"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Early Adopters</a:t>
            </a:r>
            <a:endParaRPr lang="en-US" sz="1050" dirty="0"/>
          </a:p>
        </p:txBody>
      </p:sp>
      <p:sp>
        <p:nvSpPr>
          <p:cNvPr id="46" name="Text 44"/>
          <p:cNvSpPr txBox="1"/>
          <p:nvPr/>
        </p:nvSpPr>
        <p:spPr>
          <a:xfrm>
            <a:off x="9592056" y="3749040"/>
            <a:ext cx="1975104" cy="4572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750" dirty="0">
                <a:solidFill>
                  <a:srgbClr val="073B4C"/>
                </a:solidFill>
                <a:latin typeface="Calibri" pitchFamily="34" charset="0"/>
                <a:ea typeface="Calibri" pitchFamily="34" charset="-122"/>
                <a:cs typeface="Calibri" pitchFamily="34" charset="-120"/>
              </a:rPr>
              <a:t>Existing Elvie/Perifit customers seeking a non-insertable alternative</a:t>
            </a:r>
            <a:endParaRPr lang="en-US" sz="750" dirty="0"/>
          </a:p>
        </p:txBody>
      </p:sp>
      <p:sp>
        <p:nvSpPr>
          <p:cNvPr id="47" name="Shape 45"/>
          <p:cNvSpPr/>
          <p:nvPr/>
        </p:nvSpPr>
        <p:spPr>
          <a:xfrm>
            <a:off x="457200" y="4297680"/>
            <a:ext cx="5623560" cy="1920240"/>
          </a:xfrm>
          <a:prstGeom prst="rect">
            <a:avLst/>
          </a:prstGeom>
          <a:solidFill>
            <a:srgbClr val="F4FAF9"/>
          </a:solidFill>
          <a:ln w="12700">
            <a:solidFill>
              <a:srgbClr val="CFE3E1"/>
            </a:solidFill>
            <a:prstDash val="solid"/>
          </a:ln>
        </p:spPr>
      </p:sp>
      <p:sp>
        <p:nvSpPr>
          <p:cNvPr id="48" name="Shape 46"/>
          <p:cNvSpPr/>
          <p:nvPr/>
        </p:nvSpPr>
        <p:spPr>
          <a:xfrm>
            <a:off x="530352" y="4370832"/>
            <a:ext cx="256032" cy="256032"/>
          </a:xfrm>
          <a:prstGeom prst="ellipse">
            <a:avLst/>
          </a:prstGeom>
          <a:solidFill>
            <a:srgbClr val="028090"/>
          </a:solidFill>
          <a:ln/>
        </p:spPr>
      </p:sp>
      <p:sp>
        <p:nvSpPr>
          <p:cNvPr id="49" name="Text 47"/>
          <p:cNvSpPr txBox="1"/>
          <p:nvPr/>
        </p:nvSpPr>
        <p:spPr>
          <a:xfrm>
            <a:off x="530352" y="43708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8"/>
          <p:cNvSpPr txBox="1"/>
          <p:nvPr/>
        </p:nvSpPr>
        <p:spPr>
          <a:xfrm>
            <a:off x="841248" y="4361688"/>
            <a:ext cx="5120640"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Cost Structure</a:t>
            </a:r>
            <a:endParaRPr lang="en-US" sz="1050" dirty="0"/>
          </a:p>
        </p:txBody>
      </p:sp>
      <p:sp>
        <p:nvSpPr>
          <p:cNvPr id="51" name="Text 49"/>
          <p:cNvSpPr txBox="1"/>
          <p:nvPr/>
        </p:nvSpPr>
        <p:spPr>
          <a:xfrm>
            <a:off x="594360" y="4663440"/>
            <a:ext cx="5349240" cy="146304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900" dirty="0">
                <a:solidFill>
                  <a:srgbClr val="073B4C"/>
                </a:solidFill>
                <a:latin typeface="Calibri" pitchFamily="34" charset="0"/>
                <a:ea typeface="Calibri" pitchFamily="34" charset="-122"/>
                <a:cs typeface="Calibri" pitchFamily="34" charset="-120"/>
              </a:rPr>
              <a:t>Electronics module: IC, BLE radio, rechargeable battery, connector (~EUR 8-14, one-time)</a:t>
            </a:r>
            <a:endParaRPr lang="en-US" sz="900" dirty="0"/>
          </a:p>
          <a:p>
            <a:pPr marL="127000" indent="-127000">
              <a:lnSpc>
                <a:spcPct val="105000"/>
              </a:lnSpc>
              <a:spcAft>
                <a:spcPts val="400"/>
              </a:spcAft>
              <a:buSzPct val="100000"/>
              <a:buChar char="•"/>
            </a:pPr>
            <a:r>
              <a:rPr lang="en-US" sz="900" dirty="0">
                <a:solidFill>
                  <a:srgbClr val="073B4C"/>
                </a:solidFill>
                <a:latin typeface="Calibri" pitchFamily="34" charset="0"/>
                <a:ea typeface="Calibri" pitchFamily="34" charset="-122"/>
                <a:cs typeface="Calibri" pitchFamily="34" charset="-120"/>
              </a:rPr>
              <a:t>Attachable part: printed electrodes, heater, adhesive, substrate (~EUR 2-3.50, recurring)</a:t>
            </a:r>
            <a:endParaRPr lang="en-US" sz="900" dirty="0"/>
          </a:p>
          <a:p>
            <a:pPr marL="127000" indent="-127000">
              <a:lnSpc>
                <a:spcPct val="105000"/>
              </a:lnSpc>
              <a:spcAft>
                <a:spcPts val="400"/>
              </a:spcAft>
              <a:buSzPct val="100000"/>
              <a:buChar char="•"/>
            </a:pPr>
            <a:r>
              <a:rPr lang="en-US" sz="900" dirty="0">
                <a:solidFill>
                  <a:srgbClr val="073B4C"/>
                </a:solidFill>
                <a:latin typeface="Calibri" pitchFamily="34" charset="0"/>
                <a:ea typeface="Calibri" pitchFamily="34" charset="-122"/>
                <a:cs typeface="Calibri" pitchFamily="34" charset="-120"/>
              </a:rPr>
              <a:t>Manufacturing via screen-printing/R2R (OAMK PrinLab)</a:t>
            </a:r>
            <a:endParaRPr lang="en-US" sz="900" dirty="0"/>
          </a:p>
        </p:txBody>
      </p:sp>
      <p:sp>
        <p:nvSpPr>
          <p:cNvPr id="52" name="Shape 50"/>
          <p:cNvSpPr/>
          <p:nvPr/>
        </p:nvSpPr>
        <p:spPr>
          <a:xfrm>
            <a:off x="6080760" y="4297680"/>
            <a:ext cx="5623560" cy="1920240"/>
          </a:xfrm>
          <a:prstGeom prst="rect">
            <a:avLst/>
          </a:prstGeom>
          <a:solidFill>
            <a:srgbClr val="F4FAF9"/>
          </a:solidFill>
          <a:ln w="12700">
            <a:solidFill>
              <a:srgbClr val="CFE3E1"/>
            </a:solidFill>
            <a:prstDash val="solid"/>
          </a:ln>
        </p:spPr>
      </p:sp>
      <p:sp>
        <p:nvSpPr>
          <p:cNvPr id="53" name="Shape 51"/>
          <p:cNvSpPr/>
          <p:nvPr/>
        </p:nvSpPr>
        <p:spPr>
          <a:xfrm>
            <a:off x="6153912" y="4370832"/>
            <a:ext cx="256032" cy="256032"/>
          </a:xfrm>
          <a:prstGeom prst="ellipse">
            <a:avLst/>
          </a:prstGeom>
          <a:solidFill>
            <a:srgbClr val="028090"/>
          </a:solidFill>
          <a:ln/>
        </p:spPr>
      </p:sp>
      <p:sp>
        <p:nvSpPr>
          <p:cNvPr id="54" name="Text 52"/>
          <p:cNvSpPr txBox="1"/>
          <p:nvPr/>
        </p:nvSpPr>
        <p:spPr>
          <a:xfrm>
            <a:off x="6153912" y="43708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5" name="Text 53"/>
          <p:cNvSpPr txBox="1"/>
          <p:nvPr/>
        </p:nvSpPr>
        <p:spPr>
          <a:xfrm>
            <a:off x="6464808" y="4361688"/>
            <a:ext cx="5120640" cy="274320"/>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Revenue Streams</a:t>
            </a:r>
            <a:endParaRPr lang="en-US" sz="1050" dirty="0"/>
          </a:p>
        </p:txBody>
      </p:sp>
      <p:sp>
        <p:nvSpPr>
          <p:cNvPr id="56" name="Text 54"/>
          <p:cNvSpPr txBox="1"/>
          <p:nvPr/>
        </p:nvSpPr>
        <p:spPr>
          <a:xfrm>
            <a:off x="6217920" y="4663440"/>
            <a:ext cx="5349240" cy="146304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950" dirty="0">
                <a:solidFill>
                  <a:srgbClr val="073B4C"/>
                </a:solidFill>
                <a:latin typeface="Calibri" pitchFamily="34" charset="0"/>
                <a:ea typeface="Calibri" pitchFamily="34" charset="-122"/>
                <a:cs typeface="Calibri" pitchFamily="34" charset="-120"/>
              </a:rPr>
              <a:t>One-time electronics module sale, priced with margin</a:t>
            </a:r>
            <a:endParaRPr lang="en-US" sz="950" dirty="0"/>
          </a:p>
          <a:p>
            <a:pPr marL="127000" indent="-127000">
              <a:lnSpc>
                <a:spcPct val="105000"/>
              </a:lnSpc>
              <a:spcAft>
                <a:spcPts val="400"/>
              </a:spcAft>
              <a:buSzPct val="100000"/>
              <a:buChar char="•"/>
            </a:pPr>
            <a:r>
              <a:rPr lang="en-US" sz="950" dirty="0">
                <a:solidFill>
                  <a:srgbClr val="073B4C"/>
                </a:solidFill>
                <a:latin typeface="Calibri" pitchFamily="34" charset="0"/>
                <a:ea typeface="Calibri" pitchFamily="34" charset="-122"/>
                <a:cs typeface="Calibri" pitchFamily="34" charset="-120"/>
              </a:rPr>
              <a:t>Recurring attachable-part refill sales (subscription or multi-pack)</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2026-09-17T13:13:51Z</dcterms:created>
  <dcterms:modified xsi:type="dcterms:W3CDTF">2026-09-17T13:13:51Z</dcterms:modified>
</cp:coreProperties>
</file>